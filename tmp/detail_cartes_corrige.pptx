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E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993B42-E703-9850-0DD9-F17B7FBD83D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FB2D304-9127-B6F1-2F5B-B25E2C0788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9DE0D5E-62C8-F983-BBB3-E76405F537B2}"/>
              </a:ext>
            </a:extLst>
          </p:cNvPr>
          <p:cNvSpPr>
            <a:spLocks noGrp="1"/>
          </p:cNvSpPr>
          <p:nvPr>
            <p:ph type="dt" sz="half" idx="10"/>
          </p:nvPr>
        </p:nvSpPr>
        <p:spPr/>
        <p:txBody>
          <a:bodyPr/>
          <a:lstStyle/>
          <a:p>
            <a:fld id="{00D6735A-CBA6-41FB-BD24-7BF733D1D66D}" type="datetimeFigureOut">
              <a:rPr lang="fr-FR" smtClean="0"/>
              <a:t>16/06/2026</a:t>
            </a:fld>
            <a:endParaRPr lang="fr-FR"/>
          </a:p>
        </p:txBody>
      </p:sp>
      <p:sp>
        <p:nvSpPr>
          <p:cNvPr id="5" name="Espace réservé du pied de page 4">
            <a:extLst>
              <a:ext uri="{FF2B5EF4-FFF2-40B4-BE49-F238E27FC236}">
                <a16:creationId xmlns:a16="http://schemas.microsoft.com/office/drawing/2014/main" id="{FEEFB0D7-2C8F-A6C7-8488-FB06DD9FB1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AEEDA94-9E22-7C96-31B9-725CDB554FD4}"/>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2738017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F01C79-AEFE-9CBA-2648-10238855DBD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D6B1F96-2AE4-3035-58BE-B73ACF776A8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51E88C5-1347-3C87-64C1-6F237DD4AB0B}"/>
              </a:ext>
            </a:extLst>
          </p:cNvPr>
          <p:cNvSpPr>
            <a:spLocks noGrp="1"/>
          </p:cNvSpPr>
          <p:nvPr>
            <p:ph type="dt" sz="half" idx="10"/>
          </p:nvPr>
        </p:nvSpPr>
        <p:spPr/>
        <p:txBody>
          <a:bodyPr/>
          <a:lstStyle/>
          <a:p>
            <a:fld id="{00D6735A-CBA6-41FB-BD24-7BF733D1D66D}" type="datetimeFigureOut">
              <a:rPr lang="fr-FR" smtClean="0"/>
              <a:t>16/06/2026</a:t>
            </a:fld>
            <a:endParaRPr lang="fr-FR"/>
          </a:p>
        </p:txBody>
      </p:sp>
      <p:sp>
        <p:nvSpPr>
          <p:cNvPr id="5" name="Espace réservé du pied de page 4">
            <a:extLst>
              <a:ext uri="{FF2B5EF4-FFF2-40B4-BE49-F238E27FC236}">
                <a16:creationId xmlns:a16="http://schemas.microsoft.com/office/drawing/2014/main" id="{16B110B7-C561-8EA8-810E-BA45635D93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209DF31-746F-89DD-E007-516E5378A9B6}"/>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1423671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CB3018-E7CF-70BE-ADE9-BDB7D8A54EB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6599D2B-5002-95B7-2E08-644B47E1FA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407B3AA-3C8A-7618-199C-4AD5F3B9C7D6}"/>
              </a:ext>
            </a:extLst>
          </p:cNvPr>
          <p:cNvSpPr>
            <a:spLocks noGrp="1"/>
          </p:cNvSpPr>
          <p:nvPr>
            <p:ph type="dt" sz="half" idx="10"/>
          </p:nvPr>
        </p:nvSpPr>
        <p:spPr/>
        <p:txBody>
          <a:bodyPr/>
          <a:lstStyle/>
          <a:p>
            <a:fld id="{00D6735A-CBA6-41FB-BD24-7BF733D1D66D}" type="datetimeFigureOut">
              <a:rPr lang="fr-FR" smtClean="0"/>
              <a:t>16/06/2026</a:t>
            </a:fld>
            <a:endParaRPr lang="fr-FR"/>
          </a:p>
        </p:txBody>
      </p:sp>
      <p:sp>
        <p:nvSpPr>
          <p:cNvPr id="5" name="Espace réservé du pied de page 4">
            <a:extLst>
              <a:ext uri="{FF2B5EF4-FFF2-40B4-BE49-F238E27FC236}">
                <a16:creationId xmlns:a16="http://schemas.microsoft.com/office/drawing/2014/main" id="{FC38A4AF-8D8B-8F1F-8B6F-07045A332EA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B66EFE4-70E1-00BD-CC3D-96D23BCF853D}"/>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2707691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D715FC-33AC-3D65-F8D7-ED3EC731112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F65D453-71AC-B172-E217-681567890E1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969A30E-D846-FB18-0176-29F9D5DF7BD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A79654C-074A-D653-F581-A3A60377B404}"/>
              </a:ext>
            </a:extLst>
          </p:cNvPr>
          <p:cNvSpPr>
            <a:spLocks noGrp="1"/>
          </p:cNvSpPr>
          <p:nvPr>
            <p:ph type="dt" sz="half" idx="10"/>
          </p:nvPr>
        </p:nvSpPr>
        <p:spPr/>
        <p:txBody>
          <a:bodyPr/>
          <a:lstStyle/>
          <a:p>
            <a:fld id="{00D6735A-CBA6-41FB-BD24-7BF733D1D66D}" type="datetimeFigureOut">
              <a:rPr lang="fr-FR" smtClean="0"/>
              <a:t>16/06/2026</a:t>
            </a:fld>
            <a:endParaRPr lang="fr-FR"/>
          </a:p>
        </p:txBody>
      </p:sp>
      <p:sp>
        <p:nvSpPr>
          <p:cNvPr id="6" name="Espace réservé du pied de page 5">
            <a:extLst>
              <a:ext uri="{FF2B5EF4-FFF2-40B4-BE49-F238E27FC236}">
                <a16:creationId xmlns:a16="http://schemas.microsoft.com/office/drawing/2014/main" id="{FF769B92-63F3-A0CB-AE5E-095599F391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CB156B3-D04E-6C88-A99C-10D9A2D98CC9}"/>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1932045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041431-0308-47D4-8C8E-62607211C34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43D66E5-36DE-D1AF-8D09-3756A2C7CE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CDAA7CF-2807-5EAB-DE78-58B8D59F3E6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E2F34A8-5B9B-E896-D0C3-56D82ADD17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480CEC3-3E05-6BF5-6A53-950C4BD8436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F22AE73-C411-D4EA-E6E2-DB9BD8526E2F}"/>
              </a:ext>
            </a:extLst>
          </p:cNvPr>
          <p:cNvSpPr>
            <a:spLocks noGrp="1"/>
          </p:cNvSpPr>
          <p:nvPr>
            <p:ph type="dt" sz="half" idx="10"/>
          </p:nvPr>
        </p:nvSpPr>
        <p:spPr/>
        <p:txBody>
          <a:bodyPr/>
          <a:lstStyle/>
          <a:p>
            <a:fld id="{00D6735A-CBA6-41FB-BD24-7BF733D1D66D}" type="datetimeFigureOut">
              <a:rPr lang="fr-FR" smtClean="0"/>
              <a:t>16/06/2026</a:t>
            </a:fld>
            <a:endParaRPr lang="fr-FR"/>
          </a:p>
        </p:txBody>
      </p:sp>
      <p:sp>
        <p:nvSpPr>
          <p:cNvPr id="8" name="Espace réservé du pied de page 7">
            <a:extLst>
              <a:ext uri="{FF2B5EF4-FFF2-40B4-BE49-F238E27FC236}">
                <a16:creationId xmlns:a16="http://schemas.microsoft.com/office/drawing/2014/main" id="{21D754B0-9893-6C67-6547-E694A593B63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CC6D391-C067-892D-511B-07CDE2B5452A}"/>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2997809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88BFF6-827D-0550-B7F2-B5DA11CE9FF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D9A8827-21CE-2CFC-22F0-E45EE0E6466B}"/>
              </a:ext>
            </a:extLst>
          </p:cNvPr>
          <p:cNvSpPr>
            <a:spLocks noGrp="1"/>
          </p:cNvSpPr>
          <p:nvPr>
            <p:ph type="dt" sz="half" idx="10"/>
          </p:nvPr>
        </p:nvSpPr>
        <p:spPr/>
        <p:txBody>
          <a:bodyPr/>
          <a:lstStyle/>
          <a:p>
            <a:fld id="{00D6735A-CBA6-41FB-BD24-7BF733D1D66D}" type="datetimeFigureOut">
              <a:rPr lang="fr-FR" smtClean="0"/>
              <a:t>16/06/2026</a:t>
            </a:fld>
            <a:endParaRPr lang="fr-FR"/>
          </a:p>
        </p:txBody>
      </p:sp>
      <p:sp>
        <p:nvSpPr>
          <p:cNvPr id="4" name="Espace réservé du pied de page 3">
            <a:extLst>
              <a:ext uri="{FF2B5EF4-FFF2-40B4-BE49-F238E27FC236}">
                <a16:creationId xmlns:a16="http://schemas.microsoft.com/office/drawing/2014/main" id="{A3D6B055-02D1-1A9B-3B2D-73A6A66F3B6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B17F82F-99AD-0D32-0277-275126457031}"/>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3480681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BCFB078-B63B-1E74-7398-C460E158DAAB}"/>
              </a:ext>
            </a:extLst>
          </p:cNvPr>
          <p:cNvSpPr>
            <a:spLocks noGrp="1"/>
          </p:cNvSpPr>
          <p:nvPr>
            <p:ph type="dt" sz="half" idx="10"/>
          </p:nvPr>
        </p:nvSpPr>
        <p:spPr/>
        <p:txBody>
          <a:bodyPr/>
          <a:lstStyle/>
          <a:p>
            <a:fld id="{00D6735A-CBA6-41FB-BD24-7BF733D1D66D}" type="datetimeFigureOut">
              <a:rPr lang="fr-FR" smtClean="0"/>
              <a:t>16/06/2026</a:t>
            </a:fld>
            <a:endParaRPr lang="fr-FR"/>
          </a:p>
        </p:txBody>
      </p:sp>
      <p:sp>
        <p:nvSpPr>
          <p:cNvPr id="3" name="Espace réservé du pied de page 2">
            <a:extLst>
              <a:ext uri="{FF2B5EF4-FFF2-40B4-BE49-F238E27FC236}">
                <a16:creationId xmlns:a16="http://schemas.microsoft.com/office/drawing/2014/main" id="{12C8900D-B36F-002F-A9AD-D6D986340A7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32459DB-58AA-B095-3838-9A263E42F375}"/>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3655169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88C84C-1A19-D8C8-1912-D416941F8DA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7FDD4B4-3854-1A04-175D-F6ED8915EE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1E50F12E-AE45-6831-2EE1-C4E85EA7F4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F9E57F8-5515-4DC1-3F1C-07AA54094808}"/>
              </a:ext>
            </a:extLst>
          </p:cNvPr>
          <p:cNvSpPr>
            <a:spLocks noGrp="1"/>
          </p:cNvSpPr>
          <p:nvPr>
            <p:ph type="dt" sz="half" idx="10"/>
          </p:nvPr>
        </p:nvSpPr>
        <p:spPr/>
        <p:txBody>
          <a:bodyPr/>
          <a:lstStyle/>
          <a:p>
            <a:fld id="{00D6735A-CBA6-41FB-BD24-7BF733D1D66D}" type="datetimeFigureOut">
              <a:rPr lang="fr-FR" smtClean="0"/>
              <a:t>16/06/2026</a:t>
            </a:fld>
            <a:endParaRPr lang="fr-FR"/>
          </a:p>
        </p:txBody>
      </p:sp>
      <p:sp>
        <p:nvSpPr>
          <p:cNvPr id="6" name="Espace réservé du pied de page 5">
            <a:extLst>
              <a:ext uri="{FF2B5EF4-FFF2-40B4-BE49-F238E27FC236}">
                <a16:creationId xmlns:a16="http://schemas.microsoft.com/office/drawing/2014/main" id="{D1D95AAA-ACDD-6725-7ACC-501908F819A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26DB310-3279-3DED-04EF-717E34945F69}"/>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57307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1349F5-F52B-E9B9-0A82-49B871B8965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D0678DA-3AE1-4C88-9433-12DD0E313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49035AA-1E7D-6318-BAA0-3B16328FF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A709FFC-E948-16BB-38B1-ABC7E4385D06}"/>
              </a:ext>
            </a:extLst>
          </p:cNvPr>
          <p:cNvSpPr>
            <a:spLocks noGrp="1"/>
          </p:cNvSpPr>
          <p:nvPr>
            <p:ph type="dt" sz="half" idx="10"/>
          </p:nvPr>
        </p:nvSpPr>
        <p:spPr/>
        <p:txBody>
          <a:bodyPr/>
          <a:lstStyle/>
          <a:p>
            <a:fld id="{00D6735A-CBA6-41FB-BD24-7BF733D1D66D}" type="datetimeFigureOut">
              <a:rPr lang="fr-FR" smtClean="0"/>
              <a:t>16/06/2026</a:t>
            </a:fld>
            <a:endParaRPr lang="fr-FR"/>
          </a:p>
        </p:txBody>
      </p:sp>
      <p:sp>
        <p:nvSpPr>
          <p:cNvPr id="6" name="Espace réservé du pied de page 5">
            <a:extLst>
              <a:ext uri="{FF2B5EF4-FFF2-40B4-BE49-F238E27FC236}">
                <a16:creationId xmlns:a16="http://schemas.microsoft.com/office/drawing/2014/main" id="{0ED90D6E-AFA2-7B0A-5391-9476A627143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67AD769-C562-1299-2CD1-FA80361D8C51}"/>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4087138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35D60-EC79-E4CE-7CAC-2AC9F2DECCF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4212E04-DEB4-A5D7-D0AC-1D230355047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993482F-B05D-D5B8-4563-FEFCB44F6BD8}"/>
              </a:ext>
            </a:extLst>
          </p:cNvPr>
          <p:cNvSpPr>
            <a:spLocks noGrp="1"/>
          </p:cNvSpPr>
          <p:nvPr>
            <p:ph type="dt" sz="half" idx="10"/>
          </p:nvPr>
        </p:nvSpPr>
        <p:spPr/>
        <p:txBody>
          <a:bodyPr/>
          <a:lstStyle/>
          <a:p>
            <a:fld id="{00D6735A-CBA6-41FB-BD24-7BF733D1D66D}" type="datetimeFigureOut">
              <a:rPr lang="fr-FR" smtClean="0"/>
              <a:t>16/06/2026</a:t>
            </a:fld>
            <a:endParaRPr lang="fr-FR"/>
          </a:p>
        </p:txBody>
      </p:sp>
      <p:sp>
        <p:nvSpPr>
          <p:cNvPr id="5" name="Espace réservé du pied de page 4">
            <a:extLst>
              <a:ext uri="{FF2B5EF4-FFF2-40B4-BE49-F238E27FC236}">
                <a16:creationId xmlns:a16="http://schemas.microsoft.com/office/drawing/2014/main" id="{20FE1C20-3EA6-2159-F9A3-54D680DB742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53DB7EC-9334-FD51-63FB-BFD635919E39}"/>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2307488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45B607C-3D17-DF0A-9793-162B3BCA836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FF1C4EE-45F5-1180-B057-A0BC32CBB87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E4B7618-8728-1F6E-4739-DE54AADE1119}"/>
              </a:ext>
            </a:extLst>
          </p:cNvPr>
          <p:cNvSpPr>
            <a:spLocks noGrp="1"/>
          </p:cNvSpPr>
          <p:nvPr>
            <p:ph type="dt" sz="half" idx="10"/>
          </p:nvPr>
        </p:nvSpPr>
        <p:spPr/>
        <p:txBody>
          <a:bodyPr/>
          <a:lstStyle/>
          <a:p>
            <a:fld id="{00D6735A-CBA6-41FB-BD24-7BF733D1D66D}" type="datetimeFigureOut">
              <a:rPr lang="fr-FR" smtClean="0"/>
              <a:t>16/06/2026</a:t>
            </a:fld>
            <a:endParaRPr lang="fr-FR"/>
          </a:p>
        </p:txBody>
      </p:sp>
      <p:sp>
        <p:nvSpPr>
          <p:cNvPr id="5" name="Espace réservé du pied de page 4">
            <a:extLst>
              <a:ext uri="{FF2B5EF4-FFF2-40B4-BE49-F238E27FC236}">
                <a16:creationId xmlns:a16="http://schemas.microsoft.com/office/drawing/2014/main" id="{AFD87A92-298B-F4F9-6728-20B20EC98F8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6B2BF62-BB4E-B9F7-4198-0C006C3F4EFE}"/>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1305382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0948ED5-8361-6159-672D-8EA9A1FD84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FD62F74-BC00-53CA-2EAA-81848989AC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6DA0424-5C60-0F0E-6D86-F46C8992F5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D6735A-CBA6-41FB-BD24-7BF733D1D66D}" type="datetimeFigureOut">
              <a:rPr lang="fr-FR" smtClean="0"/>
              <a:t>16/06/2026</a:t>
            </a:fld>
            <a:endParaRPr lang="fr-FR"/>
          </a:p>
        </p:txBody>
      </p:sp>
      <p:sp>
        <p:nvSpPr>
          <p:cNvPr id="5" name="Espace réservé du pied de page 4">
            <a:extLst>
              <a:ext uri="{FF2B5EF4-FFF2-40B4-BE49-F238E27FC236}">
                <a16:creationId xmlns:a16="http://schemas.microsoft.com/office/drawing/2014/main" id="{C5BF7334-47CA-548B-C6F6-5DA233310B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719130F-8912-5C70-AD5D-750A490618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33EB92-B2B1-411F-A474-01215641AC9E}" type="slidenum">
              <a:rPr lang="fr-FR" smtClean="0"/>
              <a:t>‹N°›</a:t>
            </a:fld>
            <a:endParaRPr lang="fr-FR"/>
          </a:p>
        </p:txBody>
      </p:sp>
    </p:spTree>
    <p:extLst>
      <p:ext uri="{BB962C8B-B14F-4D97-AF65-F5344CB8AC3E}">
        <p14:creationId xmlns:p14="http://schemas.microsoft.com/office/powerpoint/2010/main" val="3921304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1.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2.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3.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4.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6.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8.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9.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2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21.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22.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23.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24.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2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26.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27.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28.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29.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3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0" name="Image 19">
            <a:extLst>
              <a:ext uri="{FF2B5EF4-FFF2-40B4-BE49-F238E27FC236}">
                <a16:creationId xmlns:a16="http://schemas.microsoft.com/office/drawing/2014/main" id="{DFF502AB-FB23-1FD0-1812-F91BD0873987}"/>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8B47DC3D-F2A5-0DD4-460E-92498647DC87}"/>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37C86BF4-BF3F-3884-FDFF-33460D97FA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70FE975C-3EB7-527F-9E01-BBAD7CE4FA29}"/>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5BC9735A-BC01-5231-A662-8077059A1801}"/>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F1FEAE3B-A61B-2E97-F399-34ECF698804D}"/>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264E0663-341D-FCBA-2732-E2D068EC9C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2268A582-0C8E-DA1C-750A-237ED8E445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AF36B9E3-87E7-C57D-3F70-CD694EA5B99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B5B8FC9F-BB0A-7F91-5536-59D409C70DF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27EE70BF-3234-9085-A76F-1AA156C5078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pic>
        <p:nvPicPr>
          <p:cNvPr id="35" name="Image 34">
            <a:extLst>
              <a:ext uri="{FF2B5EF4-FFF2-40B4-BE49-F238E27FC236}">
                <a16:creationId xmlns:a16="http://schemas.microsoft.com/office/drawing/2014/main" id="{8319A8AF-97B8-C6B7-1890-B811288456B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488114" y="1664597"/>
            <a:ext cx="2879348" cy="40758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ZoneTexte 1">
            <a:extLst>
              <a:ext uri="{FF2B5EF4-FFF2-40B4-BE49-F238E27FC236}">
                <a16:creationId xmlns:a16="http://schemas.microsoft.com/office/drawing/2014/main" id="{E38687FE-37C2-4353-C403-B091C9541139}"/>
              </a:ext>
            </a:extLst>
          </p:cNvPr>
          <p:cNvSpPr txBox="1"/>
          <p:nvPr/>
        </p:nvSpPr>
        <p:spPr>
          <a:xfrm>
            <a:off x="5239342" y="2364385"/>
            <a:ext cx="5779598" cy="2308324"/>
          </a:xfrm>
          <a:prstGeom prst="rect">
            <a:avLst/>
          </a:prstGeom>
          <a:noFill/>
        </p:spPr>
        <p:txBody>
          <a:bodyPr wrap="square" rtlCol="0">
            <a:spAutoFit/>
          </a:bodyPr>
          <a:lstStyle/>
          <a:p>
            <a:pPr algn="ctr"/>
            <a:r>
              <a:rPr lang="fr-FR" sz="2400" dirty="0">
                <a:latin typeface="Arial" panose="020B0604020202020204" pitchFamily="34" charset="0"/>
                <a:cs typeface="Arial" panose="020B0604020202020204" pitchFamily="34" charset="0"/>
              </a:rPr>
              <a:t>Ce diaporama est votre compagnon de formation. Pour chaque carte du jeu, vous trouverez ici les points clés à développer à l'oral, les exemples concrets à partager et les messages essentiels à faire passer.</a:t>
            </a:r>
          </a:p>
        </p:txBody>
      </p:sp>
    </p:spTree>
    <p:extLst>
      <p:ext uri="{BB962C8B-B14F-4D97-AF65-F5344CB8AC3E}">
        <p14:creationId xmlns:p14="http://schemas.microsoft.com/office/powerpoint/2010/main" val="207825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8C7C628-C502-3AED-3173-160702123BCD}"/>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226FE7A3-FA17-A012-C543-E7B31A3E2771}"/>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FD946BF8-5060-8243-108D-67B859A05BBF}"/>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CDF69D31-330E-3E06-A88C-AFC237831B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2347669E-4163-987B-5FEA-1ABB2BCB3426}"/>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E1023A6B-00AF-156E-7F34-6FC6859DAFD8}"/>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56484BBD-8573-B09E-1CEF-76E5AE425191}"/>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06B31C88-6401-0138-59AC-63DD61C504C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63BE6A5F-EC71-0B69-1B18-749748A7B0C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DA208472-82BF-4D4A-0037-EB12F8E899D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77B9725D-BD43-D761-58C6-F5C53212326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BC9A96B0-0725-EBE7-D94A-F8392961FAD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pic>
        <p:nvPicPr>
          <p:cNvPr id="3" name="Image 2">
            <a:extLst>
              <a:ext uri="{FF2B5EF4-FFF2-40B4-BE49-F238E27FC236}">
                <a16:creationId xmlns:a16="http://schemas.microsoft.com/office/drawing/2014/main" id="{160D102A-502E-4494-FA17-1D354D001EB3}"/>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0799910">
            <a:off x="1303638" y="1690263"/>
            <a:ext cx="2877130" cy="4066161"/>
          </a:xfrm>
          <a:prstGeom prst="rect">
            <a:avLst/>
          </a:prstGeom>
        </p:spPr>
      </p:pic>
      <p:sp>
        <p:nvSpPr>
          <p:cNvPr id="4" name="ZoneTexte 3">
            <a:extLst>
              <a:ext uri="{FF2B5EF4-FFF2-40B4-BE49-F238E27FC236}">
                <a16:creationId xmlns:a16="http://schemas.microsoft.com/office/drawing/2014/main" id="{5C0F7E4D-E144-4854-A9C4-F6C701992102}"/>
              </a:ext>
            </a:extLst>
          </p:cNvPr>
          <p:cNvSpPr txBox="1"/>
          <p:nvPr/>
        </p:nvSpPr>
        <p:spPr>
          <a:xfrm>
            <a:off x="4969522" y="1690263"/>
            <a:ext cx="6771373" cy="4124206"/>
          </a:xfrm>
          <a:prstGeom prst="rect">
            <a:avLst/>
          </a:prstGeom>
          <a:noFill/>
        </p:spPr>
        <p:txBody>
          <a:bodyPr wrap="square" rtlCol="0">
            <a:spAutoFit/>
          </a:bodyPr>
          <a:lstStyle/>
          <a:p>
            <a:r>
              <a:rPr lang="fr-FR" b="1" dirty="0"/>
              <a:t>L’objet est souvent la seule chose que l’on lit avant de décider d’ouvrir un mail, de le traiter, voire de l’ignorer.</a:t>
            </a:r>
          </a:p>
          <a:p>
            <a:endParaRPr lang="fr-FR" dirty="0"/>
          </a:p>
          <a:p>
            <a:r>
              <a:rPr lang="fr-FR" sz="1600" u="sng" dirty="0"/>
              <a:t>Un bon objet permet :</a:t>
            </a:r>
          </a:p>
          <a:p>
            <a:pPr marL="285750" indent="-285750">
              <a:buFont typeface="Arial" panose="020B0604020202020204" pitchFamily="34" charset="0"/>
              <a:buChar char="•"/>
            </a:pPr>
            <a:r>
              <a:rPr lang="fr-FR" sz="1600" dirty="0"/>
              <a:t>De retrouver un mail en quelques secondes ;</a:t>
            </a:r>
          </a:p>
          <a:p>
            <a:pPr marL="285750" indent="-285750">
              <a:buFont typeface="Arial" panose="020B0604020202020204" pitchFamily="34" charset="0"/>
              <a:buChar char="•"/>
            </a:pPr>
            <a:r>
              <a:rPr lang="fr-FR" sz="1600" dirty="0"/>
              <a:t>De prioriser les actions ;</a:t>
            </a:r>
          </a:p>
          <a:p>
            <a:pPr marL="285750" indent="-285750">
              <a:buFont typeface="Arial" panose="020B0604020202020204" pitchFamily="34" charset="0"/>
              <a:buChar char="•"/>
            </a:pPr>
            <a:r>
              <a:rPr lang="fr-FR" sz="1600" dirty="0"/>
              <a:t>D’éviter les malentendus ;</a:t>
            </a:r>
          </a:p>
          <a:p>
            <a:pPr marL="285750" indent="-285750">
              <a:buFont typeface="Arial" panose="020B0604020202020204" pitchFamily="34" charset="0"/>
              <a:buChar char="•"/>
            </a:pPr>
            <a:r>
              <a:rPr lang="fr-FR" sz="1600" dirty="0"/>
              <a:t>De faciliter les recherches plusieurs mois plus tard.</a:t>
            </a:r>
          </a:p>
          <a:p>
            <a:endParaRPr lang="fr-FR" sz="1600" dirty="0"/>
          </a:p>
          <a:p>
            <a:r>
              <a:rPr lang="fr-FR" sz="1600" dirty="0">
                <a:solidFill>
                  <a:srgbClr val="0F3E9F"/>
                </a:solidFill>
              </a:rPr>
              <a:t>Si je cache le contenu du mail et que je ne vous montre que l’objet, êtes-vous capables de savoir ce que vous devez faire ? </a:t>
            </a:r>
            <a:r>
              <a:rPr lang="fr-FR" sz="1600" i="1" dirty="0">
                <a:solidFill>
                  <a:srgbClr val="0F3E9F"/>
                </a:solidFill>
              </a:rPr>
              <a:t>Si la réponse est non, l’objet n’est probablement pas assez bon !</a:t>
            </a:r>
          </a:p>
          <a:p>
            <a:endParaRPr lang="fr-FR" sz="1600" dirty="0"/>
          </a:p>
          <a:p>
            <a:r>
              <a:rPr lang="fr-FR" sz="1600" b="1" dirty="0"/>
              <a:t>Attention aux fils interminables</a:t>
            </a:r>
            <a:r>
              <a:rPr lang="fr-FR" sz="1600" dirty="0"/>
              <a:t>, on commence par un sujet, puis on parle de budget, d’aménagement, de ressources … Quand le sujet évolue, ne pas hésiter à créer un nouveau mail avec un nouvel objet.</a:t>
            </a:r>
          </a:p>
        </p:txBody>
      </p:sp>
    </p:spTree>
    <p:extLst>
      <p:ext uri="{BB962C8B-B14F-4D97-AF65-F5344CB8AC3E}">
        <p14:creationId xmlns:p14="http://schemas.microsoft.com/office/powerpoint/2010/main" val="1968993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09B0981-5E49-78D7-245E-D82DE703E698}"/>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6AD272DB-8846-A2E9-9834-4861555AC00E}"/>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631007B9-2B51-FFBC-3AE8-F032785FB55D}"/>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7AE3A711-3374-225C-32DA-95E79B7F82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B14F9F31-AE30-0B4D-075E-CD4BAF5CA081}"/>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C92F980E-7895-A80E-4A0E-BB800A3CA001}"/>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0FEB12F5-AA45-1FD4-2549-AC28630F41C1}"/>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0EAABF67-668C-E3ED-FE57-9D754EAD3B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602729DE-E907-C8D0-AF89-F1035E87FF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9BD85E77-1B56-454D-98CF-8498DDBEAAF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60E406B2-FFE4-201E-F284-ED876F5C561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61D10CED-224D-DDA4-4844-109CBC7270C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AD6E38DB-AB31-D884-48C6-C75AB37020FF}"/>
              </a:ext>
            </a:extLst>
          </p:cNvPr>
          <p:cNvSpPr txBox="1"/>
          <p:nvPr/>
        </p:nvSpPr>
        <p:spPr>
          <a:xfrm>
            <a:off x="3681167" y="1598089"/>
            <a:ext cx="8066567" cy="4401205"/>
          </a:xfrm>
          <a:prstGeom prst="rect">
            <a:avLst/>
          </a:prstGeom>
          <a:noFill/>
        </p:spPr>
        <p:txBody>
          <a:bodyPr wrap="square" rtlCol="0">
            <a:spAutoFit/>
          </a:bodyPr>
          <a:lstStyle/>
          <a:p>
            <a:r>
              <a:rPr lang="fr-FR" b="1" dirty="0"/>
              <a:t>Un mail n’est pas un rapport, au-delà de quelques lignes, l’attention diminue fortement. Plus un mail est long, plus le risque est grand que le lecteur le survole, manque une information importante ou reporte sa lecture.</a:t>
            </a:r>
          </a:p>
          <a:p>
            <a:endParaRPr lang="fr-FR" dirty="0"/>
          </a:p>
          <a:p>
            <a:r>
              <a:rPr lang="fr-FR" sz="1600" dirty="0"/>
              <a:t>La bonne question à se poser, si le message dépasse 5 lignes :</a:t>
            </a:r>
          </a:p>
          <a:p>
            <a:pPr marL="285750" indent="-285750">
              <a:buFont typeface="Arial" panose="020B0604020202020204" pitchFamily="34" charset="0"/>
              <a:buChar char="•"/>
            </a:pPr>
            <a:r>
              <a:rPr lang="fr-FR" sz="1600" dirty="0"/>
              <a:t>Faut-il appeler ?</a:t>
            </a:r>
          </a:p>
          <a:p>
            <a:pPr marL="285750" indent="-285750">
              <a:buFont typeface="Arial" panose="020B0604020202020204" pitchFamily="34" charset="0"/>
              <a:buChar char="•"/>
            </a:pPr>
            <a:r>
              <a:rPr lang="fr-FR" sz="1600" dirty="0"/>
              <a:t>Faut-il organiser une réunion ?</a:t>
            </a:r>
          </a:p>
          <a:p>
            <a:pPr marL="285750" indent="-285750">
              <a:buFont typeface="Arial" panose="020B0604020202020204" pitchFamily="34" charset="0"/>
              <a:buChar char="•"/>
            </a:pPr>
            <a:r>
              <a:rPr lang="fr-FR" sz="1600" dirty="0"/>
              <a:t>Faut-il rédiger un document ou une note et envoyer le lien ?</a:t>
            </a:r>
          </a:p>
          <a:p>
            <a:pPr marL="285750" indent="-285750">
              <a:buFont typeface="Arial" panose="020B0604020202020204" pitchFamily="34" charset="0"/>
              <a:buChar char="•"/>
            </a:pPr>
            <a:endParaRPr lang="fr-FR" sz="1600" dirty="0"/>
          </a:p>
          <a:p>
            <a:r>
              <a:rPr lang="fr-FR" sz="1600" dirty="0"/>
              <a:t>Pourquoi c’est important ?</a:t>
            </a:r>
          </a:p>
          <a:p>
            <a:pPr marL="285750" indent="-285750">
              <a:buFont typeface="Arial" panose="020B0604020202020204" pitchFamily="34" charset="0"/>
              <a:buChar char="•"/>
            </a:pPr>
            <a:r>
              <a:rPr lang="fr-FR" sz="1600" dirty="0"/>
              <a:t>Les mails courts sont lus.</a:t>
            </a:r>
          </a:p>
          <a:p>
            <a:pPr marL="285750" indent="-285750">
              <a:buFont typeface="Arial" panose="020B0604020202020204" pitchFamily="34" charset="0"/>
              <a:buChar char="•"/>
            </a:pPr>
            <a:r>
              <a:rPr lang="fr-FR" sz="1600" dirty="0"/>
              <a:t>Les demandes sont plus claires.</a:t>
            </a:r>
          </a:p>
          <a:p>
            <a:pPr marL="285750" indent="-285750">
              <a:buFont typeface="Arial" panose="020B0604020202020204" pitchFamily="34" charset="0"/>
              <a:buChar char="•"/>
            </a:pPr>
            <a:r>
              <a:rPr lang="fr-FR" sz="1600" dirty="0"/>
              <a:t>Les réponses arrivent plus vite.</a:t>
            </a:r>
          </a:p>
          <a:p>
            <a:pPr marL="285750" indent="-285750">
              <a:buFont typeface="Arial" panose="020B0604020202020204" pitchFamily="34" charset="0"/>
              <a:buChar char="•"/>
            </a:pPr>
            <a:r>
              <a:rPr lang="fr-FR" sz="1600" dirty="0"/>
              <a:t>On évite les incompréhensions.</a:t>
            </a:r>
          </a:p>
          <a:p>
            <a:endParaRPr lang="fr-FR" sz="1600" dirty="0"/>
          </a:p>
          <a:p>
            <a:r>
              <a:rPr lang="fr-FR" sz="1600" dirty="0">
                <a:solidFill>
                  <a:srgbClr val="0F3E9F"/>
                </a:solidFill>
              </a:rPr>
              <a:t>Si votre mail nécessite trois écrans de défilement, ce n’est probablement plus un mail… c’est un document qui s’ignore.</a:t>
            </a:r>
          </a:p>
        </p:txBody>
      </p:sp>
      <p:pic>
        <p:nvPicPr>
          <p:cNvPr id="5" name="Image 4">
            <a:extLst>
              <a:ext uri="{FF2B5EF4-FFF2-40B4-BE49-F238E27FC236}">
                <a16:creationId xmlns:a16="http://schemas.microsoft.com/office/drawing/2014/main" id="{A455AA05-5208-E1EC-6B18-BE3BE918C790}"/>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209801">
            <a:off x="635488" y="2081650"/>
            <a:ext cx="2489324" cy="3518087"/>
          </a:xfrm>
          <a:prstGeom prst="rect">
            <a:avLst/>
          </a:prstGeom>
        </p:spPr>
      </p:pic>
    </p:spTree>
    <p:extLst>
      <p:ext uri="{BB962C8B-B14F-4D97-AF65-F5344CB8AC3E}">
        <p14:creationId xmlns:p14="http://schemas.microsoft.com/office/powerpoint/2010/main" val="197535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873D5A5-08D4-3161-7B4C-1A9DE2C82539}"/>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7F18CA37-24CB-204E-2F26-390573537DC4}"/>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97CB767B-D854-422C-26B3-F803783BF008}"/>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C49997D0-5AC5-7A9A-B466-E525EE5B65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9AF49AFF-B17F-C69C-E14A-C5AF47D8E91E}"/>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5ADE89A-0FC3-00E5-1351-1DEC9E5284FA}"/>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ED699F31-35EF-6401-8AE4-6AB7BB15C0B7}"/>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99E02C23-2827-5981-2EC6-7AEEDC4783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D0D1D48C-FCA1-A60E-3372-578482B4D0E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E227B90C-1BB5-6612-7B36-3654E16A067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0F51D75D-829C-7365-BFC9-A3727F63149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A07AF792-1182-7BC5-C55B-C885834C6BE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61480560-99DF-C45C-63C4-8F4B4164E2AC}"/>
              </a:ext>
            </a:extLst>
          </p:cNvPr>
          <p:cNvSpPr txBox="1"/>
          <p:nvPr/>
        </p:nvSpPr>
        <p:spPr>
          <a:xfrm>
            <a:off x="3603810" y="1430485"/>
            <a:ext cx="8143923" cy="4616648"/>
          </a:xfrm>
          <a:prstGeom prst="rect">
            <a:avLst/>
          </a:prstGeom>
          <a:noFill/>
        </p:spPr>
        <p:txBody>
          <a:bodyPr wrap="square" rtlCol="0">
            <a:spAutoFit/>
          </a:bodyPr>
          <a:lstStyle/>
          <a:p>
            <a:r>
              <a:rPr lang="fr-FR" b="1" dirty="0"/>
              <a:t>Le contenu d’un mail est important. Son ton l’est tout autant. </a:t>
            </a:r>
            <a:br>
              <a:rPr lang="fr-FR" b="1" dirty="0"/>
            </a:br>
            <a:r>
              <a:rPr lang="fr-FR" b="1" dirty="0"/>
              <a:t>En quelques lignes, votre destinataire se fait une opinion.</a:t>
            </a:r>
          </a:p>
          <a:p>
            <a:endParaRPr lang="fr-FR" dirty="0"/>
          </a:p>
          <a:p>
            <a:r>
              <a:rPr lang="fr-FR" sz="1600" dirty="0"/>
              <a:t>Adapter son ton à son interlocuteur:</a:t>
            </a:r>
          </a:p>
          <a:p>
            <a:pPr marL="285750" indent="-285750">
              <a:buFont typeface="Arial" panose="020B0604020202020204" pitchFamily="34" charset="0"/>
              <a:buChar char="•"/>
            </a:pPr>
            <a:r>
              <a:rPr lang="fr-FR" sz="1600" dirty="0"/>
              <a:t>Formules de politesse adaptées</a:t>
            </a:r>
          </a:p>
          <a:p>
            <a:pPr marL="285750" indent="-285750">
              <a:buFont typeface="Arial" panose="020B0604020202020204" pitchFamily="34" charset="0"/>
              <a:buChar char="•"/>
            </a:pPr>
            <a:r>
              <a:rPr lang="fr-FR" sz="1600" dirty="0"/>
              <a:t>Ton professionnel</a:t>
            </a:r>
          </a:p>
          <a:p>
            <a:pPr marL="285750" indent="-285750">
              <a:buFont typeface="Arial" panose="020B0604020202020204" pitchFamily="34" charset="0"/>
              <a:buChar char="•"/>
            </a:pPr>
            <a:r>
              <a:rPr lang="fr-FR" sz="1600" dirty="0"/>
              <a:t>Messages structurés</a:t>
            </a:r>
          </a:p>
          <a:p>
            <a:r>
              <a:rPr lang="fr-FR" sz="1600" dirty="0"/>
              <a:t>En interne, c’est plus direct, plus rapide et plus simple.</a:t>
            </a:r>
          </a:p>
          <a:p>
            <a:pPr marL="285750" indent="-285750">
              <a:buFont typeface="Arial" panose="020B0604020202020204" pitchFamily="34" charset="0"/>
              <a:buChar char="•"/>
            </a:pPr>
            <a:endParaRPr lang="fr-FR" sz="1600" dirty="0"/>
          </a:p>
          <a:p>
            <a:r>
              <a:rPr lang="fr-FR" sz="1600" dirty="0"/>
              <a:t>Un mail conserve les traces de nos émotions, </a:t>
            </a:r>
            <a:r>
              <a:rPr lang="fr-FR" sz="1600" b="1" dirty="0"/>
              <a:t>cela peut être un problème !</a:t>
            </a:r>
          </a:p>
          <a:p>
            <a:r>
              <a:rPr lang="fr-FR" sz="1600" dirty="0"/>
              <a:t>Une phrase écrite sous la colère peut être :</a:t>
            </a:r>
          </a:p>
          <a:p>
            <a:pPr marL="285750" indent="-285750">
              <a:buFont typeface="Arial" panose="020B0604020202020204" pitchFamily="34" charset="0"/>
              <a:buChar char="•"/>
            </a:pPr>
            <a:r>
              <a:rPr lang="fr-FR" sz="1600" dirty="0"/>
              <a:t>Mal interprétée ;</a:t>
            </a:r>
          </a:p>
          <a:p>
            <a:pPr marL="285750" indent="-285750">
              <a:buFont typeface="Arial" panose="020B0604020202020204" pitchFamily="34" charset="0"/>
              <a:buChar char="•"/>
            </a:pPr>
            <a:r>
              <a:rPr lang="fr-FR" sz="1600" dirty="0"/>
              <a:t>Transférée ;</a:t>
            </a:r>
          </a:p>
          <a:p>
            <a:pPr marL="285750" indent="-285750">
              <a:buFont typeface="Arial" panose="020B0604020202020204" pitchFamily="34" charset="0"/>
              <a:buChar char="•"/>
            </a:pPr>
            <a:r>
              <a:rPr lang="fr-FR" sz="1600" dirty="0"/>
              <a:t>Archivée ;</a:t>
            </a:r>
          </a:p>
          <a:p>
            <a:pPr marL="285750" indent="-285750">
              <a:buFont typeface="Arial" panose="020B0604020202020204" pitchFamily="34" charset="0"/>
              <a:buChar char="•"/>
            </a:pPr>
            <a:r>
              <a:rPr lang="fr-FR" sz="1600" dirty="0"/>
              <a:t>Ressortie plusieurs mois plus tard.</a:t>
            </a:r>
          </a:p>
          <a:p>
            <a:pPr marL="285750" indent="-285750">
              <a:buFont typeface="Arial" panose="020B0604020202020204" pitchFamily="34" charset="0"/>
              <a:buChar char="•"/>
            </a:pPr>
            <a:endParaRPr lang="fr-FR" sz="1600" dirty="0"/>
          </a:p>
          <a:p>
            <a:r>
              <a:rPr lang="fr-FR" sz="1600" dirty="0">
                <a:solidFill>
                  <a:srgbClr val="0F3E9F"/>
                </a:solidFill>
              </a:rPr>
              <a:t>Avant d’envoyer un mail sous le coup de l’émotion, </a:t>
            </a:r>
            <a:r>
              <a:rPr lang="fr-FR" sz="1600" dirty="0" err="1">
                <a:solidFill>
                  <a:srgbClr val="0F3E9F"/>
                </a:solidFill>
              </a:rPr>
              <a:t>posez-vous</a:t>
            </a:r>
            <a:r>
              <a:rPr lang="fr-FR" sz="1600" dirty="0">
                <a:solidFill>
                  <a:srgbClr val="0F3E9F"/>
                </a:solidFill>
              </a:rPr>
              <a:t> une question simple : serais-je à l’aise si ce mail était projeté sur l’écran de cette salle dans 5 minutes ?</a:t>
            </a:r>
          </a:p>
        </p:txBody>
      </p:sp>
      <p:pic>
        <p:nvPicPr>
          <p:cNvPr id="3" name="Image 2">
            <a:extLst>
              <a:ext uri="{FF2B5EF4-FFF2-40B4-BE49-F238E27FC236}">
                <a16:creationId xmlns:a16="http://schemas.microsoft.com/office/drawing/2014/main" id="{F30A1F42-C8E9-667D-8ECE-78264C2E846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202769">
            <a:off x="622336" y="1887037"/>
            <a:ext cx="2623924" cy="3708313"/>
          </a:xfrm>
          <a:prstGeom prst="rect">
            <a:avLst/>
          </a:prstGeom>
        </p:spPr>
      </p:pic>
      <p:sp>
        <p:nvSpPr>
          <p:cNvPr id="6" name="ZoneTexte 5">
            <a:extLst>
              <a:ext uri="{FF2B5EF4-FFF2-40B4-BE49-F238E27FC236}">
                <a16:creationId xmlns:a16="http://schemas.microsoft.com/office/drawing/2014/main" id="{6C56627B-BA6E-EF63-EA6D-EE7F1571D845}"/>
              </a:ext>
            </a:extLst>
          </p:cNvPr>
          <p:cNvSpPr txBox="1"/>
          <p:nvPr/>
        </p:nvSpPr>
        <p:spPr>
          <a:xfrm rot="21022877">
            <a:off x="8173522" y="4275996"/>
            <a:ext cx="3166188"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Je suis surpris de constater que …</a:t>
            </a:r>
          </a:p>
        </p:txBody>
      </p:sp>
      <p:sp>
        <p:nvSpPr>
          <p:cNvPr id="8" name="ZoneTexte 7">
            <a:extLst>
              <a:ext uri="{FF2B5EF4-FFF2-40B4-BE49-F238E27FC236}">
                <a16:creationId xmlns:a16="http://schemas.microsoft.com/office/drawing/2014/main" id="{E7CA0534-459E-652C-51FC-A432E4BDB24F}"/>
              </a:ext>
            </a:extLst>
          </p:cNvPr>
          <p:cNvSpPr txBox="1"/>
          <p:nvPr/>
        </p:nvSpPr>
        <p:spPr>
          <a:xfrm rot="21109234">
            <a:off x="7765256" y="4660811"/>
            <a:ext cx="4009431"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Comme déjà indiqué à plusieurs reprises …</a:t>
            </a:r>
          </a:p>
        </p:txBody>
      </p:sp>
    </p:spTree>
    <p:extLst>
      <p:ext uri="{BB962C8B-B14F-4D97-AF65-F5344CB8AC3E}">
        <p14:creationId xmlns:p14="http://schemas.microsoft.com/office/powerpoint/2010/main" val="1635904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B8FA283-1A0B-A436-DD5A-3FF2BB3E0851}"/>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C5935ED8-050C-71DA-67EB-B4F49AF03B62}"/>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9A60E402-017C-0403-5EE4-AC8FB7A6DC62}"/>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659A2583-9F2E-5004-14CE-D383BDC1EE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1FA51BD7-89EF-F598-A916-A58A92D2FE8E}"/>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0B6EB1BD-EA1A-BA32-763C-A4878D1B106C}"/>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2DA0D3FE-3CC9-F9F2-C6D6-4C5A95AAD4F4}"/>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CF6343F2-FFFB-16B2-925F-68EFEDA28E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8D6BF6AB-4EA8-11F5-8385-10D28AD5581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4FC1703B-0C29-6854-F58D-7135C981E84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10B8463C-74D3-10AF-FC0F-B1FEE0CF73B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CCF9833B-197D-B577-9D56-0BC4D9A9AAB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7AD25AFE-2CE5-ACAA-8639-6907D908EA9E}"/>
              </a:ext>
            </a:extLst>
          </p:cNvPr>
          <p:cNvSpPr txBox="1"/>
          <p:nvPr/>
        </p:nvSpPr>
        <p:spPr>
          <a:xfrm>
            <a:off x="4535424" y="1430485"/>
            <a:ext cx="7212309" cy="4862870"/>
          </a:xfrm>
          <a:prstGeom prst="rect">
            <a:avLst/>
          </a:prstGeom>
          <a:noFill/>
        </p:spPr>
        <p:txBody>
          <a:bodyPr wrap="square" rtlCol="0">
            <a:spAutoFit/>
          </a:bodyPr>
          <a:lstStyle/>
          <a:p>
            <a:r>
              <a:rPr lang="fr-FR" b="1" dirty="0"/>
              <a:t>Un des plus grands générateurs de mails inutiles, </a:t>
            </a:r>
            <a:br>
              <a:rPr lang="fr-FR" b="1" dirty="0"/>
            </a:br>
            <a:r>
              <a:rPr lang="fr-FR" b="1" dirty="0"/>
              <a:t>ce n’est pas Outlook. C’est l’utilisation du mauvais champ.</a:t>
            </a:r>
          </a:p>
          <a:p>
            <a:endParaRPr lang="fr-FR" dirty="0"/>
          </a:p>
          <a:p>
            <a:r>
              <a:rPr lang="fr-FR" sz="1600" b="1" dirty="0"/>
              <a:t>Le champ A </a:t>
            </a:r>
            <a:r>
              <a:rPr lang="fr-FR" sz="1600" dirty="0"/>
              <a:t>est réservé aux personnes dont vous attendez une action :</a:t>
            </a:r>
          </a:p>
          <a:p>
            <a:pPr marL="285750" indent="-285750">
              <a:buFont typeface="Arial" panose="020B0604020202020204" pitchFamily="34" charset="0"/>
              <a:buChar char="•"/>
            </a:pPr>
            <a:r>
              <a:rPr lang="fr-FR" sz="1600" dirty="0"/>
              <a:t>Une validation, une réponse, une décision, une réalisation.</a:t>
            </a:r>
          </a:p>
          <a:p>
            <a:pPr marL="285750" indent="-285750">
              <a:buFont typeface="Arial" panose="020B0604020202020204" pitchFamily="34" charset="0"/>
              <a:buChar char="•"/>
            </a:pPr>
            <a:endParaRPr lang="fr-FR" sz="1600" dirty="0"/>
          </a:p>
          <a:p>
            <a:r>
              <a:rPr lang="fr-FR" sz="1600" b="1" dirty="0"/>
              <a:t>Le champ CC </a:t>
            </a:r>
            <a:r>
              <a:rPr lang="fr-FR" sz="1600" dirty="0"/>
              <a:t>sert à tenir quelqu’un informé.</a:t>
            </a:r>
          </a:p>
          <a:p>
            <a:pPr marL="285750" indent="-285750">
              <a:buFont typeface="Arial" panose="020B0604020202020204" pitchFamily="34" charset="0"/>
              <a:buChar char="•"/>
            </a:pPr>
            <a:r>
              <a:rPr lang="fr-FR" sz="1600" dirty="0"/>
              <a:t>Aucune action n’est attendue. La personne doit pouvoir lire le mail et continuer sa journée sans culpabiliser de ne pas répondre.</a:t>
            </a:r>
          </a:p>
          <a:p>
            <a:pPr marL="285750" indent="-285750">
              <a:buFont typeface="Arial" panose="020B0604020202020204" pitchFamily="34" charset="0"/>
              <a:buChar char="•"/>
            </a:pPr>
            <a:endParaRPr lang="fr-FR" sz="1600" dirty="0"/>
          </a:p>
          <a:p>
            <a:r>
              <a:rPr lang="fr-FR" sz="1600" b="1" dirty="0"/>
              <a:t>Le champ CCI </a:t>
            </a:r>
            <a:r>
              <a:rPr lang="fr-FR" sz="1600" dirty="0"/>
              <a:t>masque les adresses des destinataires.</a:t>
            </a:r>
          </a:p>
          <a:p>
            <a:pPr marL="285750" indent="-285750">
              <a:buFont typeface="Arial" panose="020B0604020202020204" pitchFamily="34" charset="0"/>
              <a:buChar char="•"/>
            </a:pPr>
            <a:r>
              <a:rPr lang="fr-FR" sz="1600" dirty="0"/>
              <a:t>Utile pour les envois à de nombreux partenaires</a:t>
            </a:r>
          </a:p>
          <a:p>
            <a:pPr marL="285750" indent="-285750">
              <a:buFont typeface="Arial" panose="020B0604020202020204" pitchFamily="34" charset="0"/>
              <a:buChar char="•"/>
            </a:pPr>
            <a:r>
              <a:rPr lang="fr-FR" sz="1600" dirty="0"/>
              <a:t>Les invitations</a:t>
            </a:r>
          </a:p>
          <a:p>
            <a:pPr marL="285750" indent="-285750">
              <a:buFont typeface="Arial" panose="020B0604020202020204" pitchFamily="34" charset="0"/>
              <a:buChar char="•"/>
            </a:pPr>
            <a:r>
              <a:rPr lang="fr-FR" sz="1600" dirty="0"/>
              <a:t>Les communications externes</a:t>
            </a:r>
          </a:p>
          <a:p>
            <a:pPr marL="285750" indent="-285750">
              <a:buFont typeface="Arial" panose="020B0604020202020204" pitchFamily="34" charset="0"/>
              <a:buChar char="•"/>
            </a:pPr>
            <a:r>
              <a:rPr lang="fr-FR" sz="1600" dirty="0"/>
              <a:t>La protection des données personnelles.</a:t>
            </a:r>
          </a:p>
          <a:p>
            <a:endParaRPr lang="fr-FR" sz="1600" dirty="0">
              <a:solidFill>
                <a:srgbClr val="0F3E9F"/>
              </a:solidFill>
            </a:endParaRPr>
          </a:p>
          <a:p>
            <a:r>
              <a:rPr lang="fr-FR" sz="1600" dirty="0">
                <a:solidFill>
                  <a:srgbClr val="0F3E9F"/>
                </a:solidFill>
              </a:rPr>
              <a:t>Si tout le monde est en copie, alors plus personne ne sait qui est responsable.</a:t>
            </a:r>
          </a:p>
          <a:p>
            <a:r>
              <a:rPr lang="fr-FR" sz="1600" dirty="0">
                <a:solidFill>
                  <a:srgbClr val="0F3E9F"/>
                </a:solidFill>
              </a:rPr>
              <a:t>Le CC n’est pas une assurance de responsabilité professionnelle.</a:t>
            </a:r>
          </a:p>
          <a:p>
            <a:endParaRPr lang="fr-FR" sz="1600" dirty="0">
              <a:solidFill>
                <a:srgbClr val="0F3E9F"/>
              </a:solidFill>
            </a:endParaRPr>
          </a:p>
        </p:txBody>
      </p:sp>
      <p:pic>
        <p:nvPicPr>
          <p:cNvPr id="5" name="Image 4">
            <a:extLst>
              <a:ext uri="{FF2B5EF4-FFF2-40B4-BE49-F238E27FC236}">
                <a16:creationId xmlns:a16="http://schemas.microsoft.com/office/drawing/2014/main" id="{4B8D5F2C-56D9-F713-3D2A-D292A4F0F52F}"/>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288952">
            <a:off x="786948" y="1736461"/>
            <a:ext cx="2792560" cy="3946641"/>
          </a:xfrm>
          <a:prstGeom prst="rect">
            <a:avLst/>
          </a:prstGeom>
        </p:spPr>
      </p:pic>
    </p:spTree>
    <p:extLst>
      <p:ext uri="{BB962C8B-B14F-4D97-AF65-F5344CB8AC3E}">
        <p14:creationId xmlns:p14="http://schemas.microsoft.com/office/powerpoint/2010/main" val="3249171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3D12AA9-446A-BD13-61AF-06F4DF2663A2}"/>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843E3BDE-2DEB-0C35-4ACA-D723C10E21C2}"/>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F6B1C272-51C3-2635-6080-937A9EE9D6BA}"/>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D7F205B3-5E71-F56F-2309-F2B6E91616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FDD429FE-4325-749D-1DB4-985215467E38}"/>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A3E807A-F39A-A626-0E1B-1FF07A48118E}"/>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FBF1E4B3-14A7-B513-4F92-3C797CA76061}"/>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0F00D61E-61D9-0598-9654-B45CB4572D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52D49546-7458-1A2D-90EE-554ABCA564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28BA15E7-9643-E683-9E2C-F150C29E35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85A7D04B-F617-4691-0F32-65564F0DA4A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774B4F43-F78B-467E-1F30-4C208C99D14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FDC48CCA-0060-7C60-082A-5885B2A47152}"/>
              </a:ext>
            </a:extLst>
          </p:cNvPr>
          <p:cNvSpPr txBox="1"/>
          <p:nvPr/>
        </p:nvSpPr>
        <p:spPr>
          <a:xfrm>
            <a:off x="3603810" y="1531069"/>
            <a:ext cx="8143923" cy="4462760"/>
          </a:xfrm>
          <a:prstGeom prst="rect">
            <a:avLst/>
          </a:prstGeom>
          <a:noFill/>
        </p:spPr>
        <p:txBody>
          <a:bodyPr wrap="square" rtlCol="0">
            <a:spAutoFit/>
          </a:bodyPr>
          <a:lstStyle/>
          <a:p>
            <a:r>
              <a:rPr lang="fr-FR" b="1" dirty="0"/>
              <a:t>« Répondre à tous » est l’une des principales sources de pollution des boîtes mail. Chaque clic peut générer des dizaines, voire centaines de mails inutiles.</a:t>
            </a:r>
          </a:p>
          <a:p>
            <a:endParaRPr lang="fr-FR" dirty="0"/>
          </a:p>
          <a:p>
            <a:r>
              <a:rPr lang="fr-FR" sz="1600" dirty="0"/>
              <a:t>Est-ce que tout le monde a réellement besoin de lire ma réponse ? </a:t>
            </a:r>
            <a:br>
              <a:rPr lang="fr-FR" sz="1600" dirty="0"/>
            </a:br>
            <a:r>
              <a:rPr lang="fr-FR" sz="1600" dirty="0"/>
              <a:t>Si la réponse est </a:t>
            </a:r>
            <a:r>
              <a:rPr lang="fr-FR" sz="1600" b="1" dirty="0"/>
              <a:t>non</a:t>
            </a:r>
            <a:r>
              <a:rPr lang="fr-FR" sz="1600" dirty="0"/>
              <a:t>, utilisez simplement « </a:t>
            </a:r>
            <a:r>
              <a:rPr lang="fr-FR" sz="1600" b="1" dirty="0"/>
              <a:t>Répondre</a:t>
            </a:r>
            <a:r>
              <a:rPr lang="fr-FR" sz="1600" dirty="0"/>
              <a:t> »</a:t>
            </a:r>
          </a:p>
          <a:p>
            <a:endParaRPr lang="fr-FR" sz="1600" dirty="0"/>
          </a:p>
          <a:p>
            <a:r>
              <a:rPr lang="fr-FR" sz="1600" dirty="0"/>
              <a:t>Quand utiliser « </a:t>
            </a:r>
            <a:r>
              <a:rPr lang="fr-FR" sz="1600" b="1" dirty="0"/>
              <a:t>Répondre à tous </a:t>
            </a:r>
            <a:r>
              <a:rPr lang="fr-FR" sz="1600" dirty="0"/>
              <a:t>» ?</a:t>
            </a:r>
          </a:p>
          <a:p>
            <a:pPr marL="285750" indent="-285750">
              <a:buFont typeface="Arial" panose="020B0604020202020204" pitchFamily="34" charset="0"/>
              <a:buChar char="•"/>
            </a:pPr>
            <a:r>
              <a:rPr lang="fr-FR" sz="1600" dirty="0"/>
              <a:t>Lorsque l’information concerne réellement tous les destinataires.</a:t>
            </a:r>
          </a:p>
          <a:p>
            <a:pPr marL="285750" indent="-285750">
              <a:buFont typeface="Arial" panose="020B0604020202020204" pitchFamily="34" charset="0"/>
              <a:buChar char="•"/>
            </a:pPr>
            <a:r>
              <a:rPr lang="fr-FR" sz="1600" dirty="0"/>
              <a:t>Lorsque chacun doit connaître votre réponse.</a:t>
            </a:r>
          </a:p>
          <a:p>
            <a:pPr marL="285750" indent="-285750">
              <a:buFont typeface="Arial" panose="020B0604020202020204" pitchFamily="34" charset="0"/>
              <a:buChar char="•"/>
            </a:pPr>
            <a:r>
              <a:rPr lang="fr-FR" sz="1600" dirty="0"/>
              <a:t>Lorsqu’une décision collective est en cours.</a:t>
            </a:r>
          </a:p>
          <a:p>
            <a:pPr marL="285750" indent="-285750">
              <a:buFont typeface="Arial" panose="020B0604020202020204" pitchFamily="34" charset="0"/>
              <a:buChar char="•"/>
            </a:pPr>
            <a:endParaRPr lang="fr-FR" sz="1600" dirty="0"/>
          </a:p>
          <a:p>
            <a:r>
              <a:rPr lang="fr-FR" sz="1600" dirty="0"/>
              <a:t>Quand l’éviter ?</a:t>
            </a:r>
          </a:p>
          <a:p>
            <a:pPr marL="285750" indent="-285750">
              <a:buFont typeface="Arial" panose="020B0604020202020204" pitchFamily="34" charset="0"/>
              <a:buChar char="•"/>
            </a:pPr>
            <a:r>
              <a:rPr lang="fr-FR" sz="1600" dirty="0"/>
              <a:t>Confirmation de présence</a:t>
            </a:r>
          </a:p>
          <a:p>
            <a:pPr marL="285750" indent="-285750">
              <a:buFont typeface="Arial" panose="020B0604020202020204" pitchFamily="34" charset="0"/>
              <a:buChar char="•"/>
            </a:pPr>
            <a:r>
              <a:rPr lang="fr-FR" sz="1600" dirty="0"/>
              <a:t>Question destinée à une seule personne</a:t>
            </a:r>
          </a:p>
          <a:p>
            <a:pPr marL="285750" indent="-285750">
              <a:buFont typeface="Arial" panose="020B0604020202020204" pitchFamily="34" charset="0"/>
              <a:buChar char="•"/>
            </a:pPr>
            <a:endParaRPr lang="fr-FR" sz="1600" dirty="0"/>
          </a:p>
          <a:p>
            <a:pPr marL="285750" indent="-285750">
              <a:buFont typeface="Arial" panose="020B0604020202020204" pitchFamily="34" charset="0"/>
              <a:buChar char="•"/>
            </a:pPr>
            <a:endParaRPr lang="fr-FR" sz="1600" dirty="0"/>
          </a:p>
          <a:p>
            <a:r>
              <a:rPr lang="fr-FR" sz="1600" dirty="0">
                <a:solidFill>
                  <a:srgbClr val="0F3E9F"/>
                </a:solidFill>
              </a:rPr>
              <a:t>Etes-vous vraiment sûr que 50 personnes ont besoin de lire votre « Merci » ?</a:t>
            </a:r>
          </a:p>
        </p:txBody>
      </p:sp>
      <p:sp>
        <p:nvSpPr>
          <p:cNvPr id="6" name="ZoneTexte 5">
            <a:extLst>
              <a:ext uri="{FF2B5EF4-FFF2-40B4-BE49-F238E27FC236}">
                <a16:creationId xmlns:a16="http://schemas.microsoft.com/office/drawing/2014/main" id="{527B378B-D547-9D01-FAD4-2F981A8EDC6C}"/>
              </a:ext>
            </a:extLst>
          </p:cNvPr>
          <p:cNvSpPr txBox="1"/>
          <p:nvPr/>
        </p:nvSpPr>
        <p:spPr>
          <a:xfrm rot="21022877">
            <a:off x="8558519" y="4554502"/>
            <a:ext cx="1546321"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Je serai présent</a:t>
            </a:r>
          </a:p>
        </p:txBody>
      </p:sp>
      <p:sp>
        <p:nvSpPr>
          <p:cNvPr id="8" name="ZoneTexte 7">
            <a:extLst>
              <a:ext uri="{FF2B5EF4-FFF2-40B4-BE49-F238E27FC236}">
                <a16:creationId xmlns:a16="http://schemas.microsoft.com/office/drawing/2014/main" id="{B5A4609A-F775-55BB-7CBF-8E3B0209F58F}"/>
              </a:ext>
            </a:extLst>
          </p:cNvPr>
          <p:cNvSpPr txBox="1"/>
          <p:nvPr/>
        </p:nvSpPr>
        <p:spPr>
          <a:xfrm rot="21109234">
            <a:off x="9172667" y="4935277"/>
            <a:ext cx="1017010"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Bien reçu</a:t>
            </a:r>
          </a:p>
        </p:txBody>
      </p:sp>
      <p:pic>
        <p:nvPicPr>
          <p:cNvPr id="5" name="Image 4">
            <a:extLst>
              <a:ext uri="{FF2B5EF4-FFF2-40B4-BE49-F238E27FC236}">
                <a16:creationId xmlns:a16="http://schemas.microsoft.com/office/drawing/2014/main" id="{38B0BC1C-E0E7-C6D4-51F5-606509270FB7}"/>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64878">
            <a:off x="444267" y="1922538"/>
            <a:ext cx="2685368" cy="3795150"/>
          </a:xfrm>
          <a:prstGeom prst="rect">
            <a:avLst/>
          </a:prstGeom>
        </p:spPr>
      </p:pic>
      <p:sp>
        <p:nvSpPr>
          <p:cNvPr id="9" name="ZoneTexte 8">
            <a:extLst>
              <a:ext uri="{FF2B5EF4-FFF2-40B4-BE49-F238E27FC236}">
                <a16:creationId xmlns:a16="http://schemas.microsoft.com/office/drawing/2014/main" id="{9108AABF-C6E6-4CAC-D082-D2F0AD0A0F07}"/>
              </a:ext>
            </a:extLst>
          </p:cNvPr>
          <p:cNvSpPr txBox="1"/>
          <p:nvPr/>
        </p:nvSpPr>
        <p:spPr>
          <a:xfrm rot="21109234">
            <a:off x="10272896" y="4985919"/>
            <a:ext cx="452368"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OK</a:t>
            </a:r>
          </a:p>
        </p:txBody>
      </p:sp>
      <p:sp>
        <p:nvSpPr>
          <p:cNvPr id="11" name="ZoneTexte 10">
            <a:extLst>
              <a:ext uri="{FF2B5EF4-FFF2-40B4-BE49-F238E27FC236}">
                <a16:creationId xmlns:a16="http://schemas.microsoft.com/office/drawing/2014/main" id="{7248B773-CC10-57C9-9D5C-0E4317695743}"/>
              </a:ext>
            </a:extLst>
          </p:cNvPr>
          <p:cNvSpPr txBox="1"/>
          <p:nvPr/>
        </p:nvSpPr>
        <p:spPr>
          <a:xfrm rot="557798">
            <a:off x="10046974" y="4622167"/>
            <a:ext cx="677173"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Merci</a:t>
            </a:r>
          </a:p>
        </p:txBody>
      </p:sp>
    </p:spTree>
    <p:extLst>
      <p:ext uri="{BB962C8B-B14F-4D97-AF65-F5344CB8AC3E}">
        <p14:creationId xmlns:p14="http://schemas.microsoft.com/office/powerpoint/2010/main" val="157535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9E7F6C4-771D-0406-C2C7-20C18DA81224}"/>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2280D847-32DB-5074-D634-94038AED4636}"/>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6AE71F4A-9D3E-02F1-ACDB-971CEBE63FD5}"/>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F2095754-4170-82CE-DD27-6585E7AF58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F73E4E91-7B5B-C987-2BFC-C6728C01D899}"/>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2873122-FC60-22A5-1865-A9B8F50B0F8C}"/>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AB5D67D8-E2C2-A3CD-6E85-B7B8598BD820}"/>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32E3CA57-819B-6F5A-C6FF-1A118319C81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AEA811AC-A283-297A-F9D2-A2387CA119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BB5696C2-F6AE-71D0-FB3C-18C64232826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69E71028-CA3A-D3A4-8E91-07235783741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E1490000-172B-12FF-31AC-6081273A807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30460DD8-EEC9-DF4D-F7AC-34B20F22A624}"/>
              </a:ext>
            </a:extLst>
          </p:cNvPr>
          <p:cNvSpPr txBox="1"/>
          <p:nvPr/>
        </p:nvSpPr>
        <p:spPr>
          <a:xfrm>
            <a:off x="4261104" y="1836986"/>
            <a:ext cx="7471264" cy="3662541"/>
          </a:xfrm>
          <a:prstGeom prst="rect">
            <a:avLst/>
          </a:prstGeom>
          <a:noFill/>
        </p:spPr>
        <p:txBody>
          <a:bodyPr wrap="square" rtlCol="0">
            <a:spAutoFit/>
          </a:bodyPr>
          <a:lstStyle/>
          <a:p>
            <a:r>
              <a:rPr lang="fr-FR" b="1" dirty="0"/>
              <a:t>Parmi toutes les erreurs de messagerie, il y en a une qui peut avoir des conséquences immédiates : envoyer le bon message … à la mauvaise personne. C’est souvent un problème « auto-complétions d’Outlook »</a:t>
            </a:r>
          </a:p>
          <a:p>
            <a:endParaRPr lang="fr-FR" dirty="0"/>
          </a:p>
          <a:p>
            <a:r>
              <a:rPr lang="fr-FR" sz="1600" dirty="0"/>
              <a:t>Vous tapez « Mar… », Outlook propose : </a:t>
            </a:r>
          </a:p>
          <a:p>
            <a:pPr marL="285750" indent="-285750">
              <a:buFont typeface="Arial" panose="020B0604020202020204" pitchFamily="34" charset="0"/>
              <a:buChar char="•"/>
            </a:pPr>
            <a:r>
              <a:rPr lang="fr-FR" sz="1600" dirty="0"/>
              <a:t>Marie Martin </a:t>
            </a:r>
            <a:r>
              <a:rPr lang="fr-FR" sz="1600" i="1" dirty="0"/>
              <a:t>(votre femme)</a:t>
            </a:r>
          </a:p>
          <a:p>
            <a:pPr marL="285750" indent="-285750">
              <a:buFont typeface="Arial" panose="020B0604020202020204" pitchFamily="34" charset="0"/>
              <a:buChar char="•"/>
            </a:pPr>
            <a:r>
              <a:rPr lang="fr-FR" sz="1600" dirty="0"/>
              <a:t>Marc Dupont </a:t>
            </a:r>
            <a:r>
              <a:rPr lang="fr-FR" sz="1600" i="1" dirty="0"/>
              <a:t>(votre collègue)</a:t>
            </a:r>
          </a:p>
          <a:p>
            <a:pPr marL="285750" indent="-285750">
              <a:buFont typeface="Arial" panose="020B0604020202020204" pitchFamily="34" charset="0"/>
              <a:buChar char="•"/>
            </a:pPr>
            <a:r>
              <a:rPr lang="fr-FR" sz="1600" dirty="0"/>
              <a:t>Marion Bernard </a:t>
            </a:r>
            <a:r>
              <a:rPr lang="fr-FR" sz="1600" i="1" dirty="0"/>
              <a:t>(votre chef)</a:t>
            </a:r>
          </a:p>
          <a:p>
            <a:endParaRPr lang="fr-FR" sz="1600" dirty="0"/>
          </a:p>
          <a:p>
            <a:r>
              <a:rPr lang="fr-FR" sz="1600" dirty="0"/>
              <a:t>Vous cliquez un peu vite, le mail part. Et vous ne vous rendez compte de l’erreur qu’après l’envoi.</a:t>
            </a:r>
          </a:p>
          <a:p>
            <a:endParaRPr lang="fr-FR" sz="1600" dirty="0"/>
          </a:p>
          <a:p>
            <a:r>
              <a:rPr lang="fr-FR" sz="1600" dirty="0">
                <a:solidFill>
                  <a:srgbClr val="0F3E9F"/>
                </a:solidFill>
              </a:rPr>
              <a:t>Combien d’entre vous ont déjà commencé un mail par : </a:t>
            </a:r>
            <a:br>
              <a:rPr lang="fr-FR" sz="1600" dirty="0">
                <a:solidFill>
                  <a:srgbClr val="0F3E9F"/>
                </a:solidFill>
              </a:rPr>
            </a:br>
            <a:r>
              <a:rPr lang="fr-FR" sz="1600" dirty="0">
                <a:solidFill>
                  <a:srgbClr val="0F3E9F"/>
                </a:solidFill>
              </a:rPr>
              <a:t>« Oups, ce message ne vous était pas destiné … » ?</a:t>
            </a:r>
          </a:p>
        </p:txBody>
      </p:sp>
      <p:sp>
        <p:nvSpPr>
          <p:cNvPr id="6" name="ZoneTexte 5">
            <a:extLst>
              <a:ext uri="{FF2B5EF4-FFF2-40B4-BE49-F238E27FC236}">
                <a16:creationId xmlns:a16="http://schemas.microsoft.com/office/drawing/2014/main" id="{EE7EFE23-0C26-12AC-D0C5-EF90770A58B9}"/>
              </a:ext>
            </a:extLst>
          </p:cNvPr>
          <p:cNvSpPr txBox="1"/>
          <p:nvPr/>
        </p:nvSpPr>
        <p:spPr>
          <a:xfrm rot="21022877">
            <a:off x="7670278" y="2965835"/>
            <a:ext cx="2619628"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Une donnée confidentielle</a:t>
            </a:r>
          </a:p>
        </p:txBody>
      </p:sp>
      <p:sp>
        <p:nvSpPr>
          <p:cNvPr id="11" name="ZoneTexte 10">
            <a:extLst>
              <a:ext uri="{FF2B5EF4-FFF2-40B4-BE49-F238E27FC236}">
                <a16:creationId xmlns:a16="http://schemas.microsoft.com/office/drawing/2014/main" id="{A8D873B3-F4BA-1A9C-3677-1D12B3D23423}"/>
              </a:ext>
            </a:extLst>
          </p:cNvPr>
          <p:cNvSpPr txBox="1"/>
          <p:nvPr/>
        </p:nvSpPr>
        <p:spPr>
          <a:xfrm>
            <a:off x="8521745" y="3351778"/>
            <a:ext cx="2148537"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Un contenu personnel</a:t>
            </a:r>
          </a:p>
        </p:txBody>
      </p:sp>
      <p:pic>
        <p:nvPicPr>
          <p:cNvPr id="3" name="Image 2">
            <a:extLst>
              <a:ext uri="{FF2B5EF4-FFF2-40B4-BE49-F238E27FC236}">
                <a16:creationId xmlns:a16="http://schemas.microsoft.com/office/drawing/2014/main" id="{32DFC8F8-B9B6-5FBA-4AF2-D971435996D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70376">
            <a:off x="692381" y="1688317"/>
            <a:ext cx="2968832" cy="4195761"/>
          </a:xfrm>
          <a:prstGeom prst="rect">
            <a:avLst/>
          </a:prstGeom>
        </p:spPr>
      </p:pic>
    </p:spTree>
    <p:extLst>
      <p:ext uri="{BB962C8B-B14F-4D97-AF65-F5344CB8AC3E}">
        <p14:creationId xmlns:p14="http://schemas.microsoft.com/office/powerpoint/2010/main" val="3592788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6B55501-CE8E-4A2C-5F67-18D493D46CCC}"/>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857CB531-A20F-5368-896B-6C13D5620FCF}"/>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ACB5C18E-433E-DE87-187B-CD7CA3E34DBA}"/>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B234D187-EAB9-4894-CE47-EAD682ADC6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E5BEBC02-AA66-71B8-1D6E-EFE51FE6CC22}"/>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578A5852-79BE-FD0A-5CEE-0ECA85B78ED0}"/>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62AC2B5C-C3CD-5A98-516F-281232D0FDF7}"/>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A2D5A1D4-6915-683F-3324-021D5F3EF9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37797E13-ADCC-78FC-2DD5-5487ED079DC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412AA6DA-BF88-1436-B508-67641C025ED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6F9630A1-DF58-7925-642C-1E451DBBC4A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4483E7A2-FD60-864E-8AC5-E1BF48E4522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32C1895D-78B3-8D65-128B-97CE2CB95E80}"/>
              </a:ext>
            </a:extLst>
          </p:cNvPr>
          <p:cNvSpPr txBox="1"/>
          <p:nvPr/>
        </p:nvSpPr>
        <p:spPr>
          <a:xfrm>
            <a:off x="3822061" y="1690682"/>
            <a:ext cx="7910307" cy="4124206"/>
          </a:xfrm>
          <a:prstGeom prst="rect">
            <a:avLst/>
          </a:prstGeom>
          <a:noFill/>
        </p:spPr>
        <p:txBody>
          <a:bodyPr wrap="square" rtlCol="0">
            <a:spAutoFit/>
          </a:bodyPr>
          <a:lstStyle/>
          <a:p>
            <a:r>
              <a:rPr lang="fr-FR" b="1" dirty="0"/>
              <a:t>Le problème n’est pas toujours le mail. </a:t>
            </a:r>
            <a:br>
              <a:rPr lang="fr-FR" b="1" dirty="0"/>
            </a:br>
            <a:r>
              <a:rPr lang="fr-FR" b="1" dirty="0"/>
              <a:t>C’est son utilisation pour des situations où il n’est pas le bon outil.</a:t>
            </a:r>
          </a:p>
          <a:p>
            <a:endParaRPr lang="fr-FR" dirty="0"/>
          </a:p>
          <a:p>
            <a:r>
              <a:rPr lang="fr-FR" sz="1600" dirty="0"/>
              <a:t>Le mail est excellent pour : </a:t>
            </a:r>
          </a:p>
          <a:p>
            <a:pPr marL="285750" indent="-285750">
              <a:buFont typeface="Arial" panose="020B0604020202020204" pitchFamily="34" charset="0"/>
              <a:buChar char="•"/>
            </a:pPr>
            <a:r>
              <a:rPr lang="fr-FR" sz="1600" dirty="0"/>
              <a:t>Transmettre une information ;</a:t>
            </a:r>
          </a:p>
          <a:p>
            <a:pPr marL="285750" indent="-285750">
              <a:buFont typeface="Arial" panose="020B0604020202020204" pitchFamily="34" charset="0"/>
              <a:buChar char="•"/>
            </a:pPr>
            <a:r>
              <a:rPr lang="fr-FR" sz="1600" i="1" dirty="0"/>
              <a:t>Formaliser une décision ;</a:t>
            </a:r>
          </a:p>
          <a:p>
            <a:pPr marL="285750" indent="-285750">
              <a:buFont typeface="Arial" panose="020B0604020202020204" pitchFamily="34" charset="0"/>
              <a:buChar char="•"/>
            </a:pPr>
            <a:r>
              <a:rPr lang="fr-FR" sz="1600" i="1" dirty="0"/>
              <a:t>Conserver une trace.</a:t>
            </a:r>
          </a:p>
          <a:p>
            <a:pPr marL="285750" indent="-285750">
              <a:buFont typeface="Arial" panose="020B0604020202020204" pitchFamily="34" charset="0"/>
              <a:buChar char="•"/>
            </a:pPr>
            <a:endParaRPr lang="fr-FR" sz="1600" i="1" dirty="0"/>
          </a:p>
          <a:p>
            <a:r>
              <a:rPr lang="fr-FR" sz="1600" i="1" dirty="0"/>
              <a:t>Quel est l’objectif de ma communication ?</a:t>
            </a:r>
          </a:p>
          <a:p>
            <a:pPr marL="285750" indent="-285750">
              <a:buFont typeface="Arial" panose="020B0604020202020204" pitchFamily="34" charset="0"/>
              <a:buChar char="•"/>
            </a:pPr>
            <a:r>
              <a:rPr lang="fr-FR" sz="1600" dirty="0"/>
              <a:t>Besoin d’une réponse immédiate =&gt; </a:t>
            </a:r>
            <a:r>
              <a:rPr lang="fr-FR" sz="1600" b="1" dirty="0"/>
              <a:t>téléphone</a:t>
            </a:r>
          </a:p>
          <a:p>
            <a:pPr marL="285750" indent="-285750">
              <a:buFont typeface="Arial" panose="020B0604020202020204" pitchFamily="34" charset="0"/>
              <a:buChar char="•"/>
            </a:pPr>
            <a:r>
              <a:rPr lang="fr-FR" sz="1600" dirty="0"/>
              <a:t>Besoin d’échanger =&gt; </a:t>
            </a:r>
            <a:r>
              <a:rPr lang="fr-FR" sz="1600" b="1" dirty="0"/>
              <a:t>réunion ou Zoom</a:t>
            </a:r>
          </a:p>
          <a:p>
            <a:pPr marL="285750" indent="-285750">
              <a:buFont typeface="Arial" panose="020B0604020202020204" pitchFamily="34" charset="0"/>
              <a:buChar char="•"/>
            </a:pPr>
            <a:r>
              <a:rPr lang="fr-FR" sz="1600" dirty="0"/>
              <a:t>Besoin de suivre une action =&gt; </a:t>
            </a:r>
            <a:r>
              <a:rPr lang="fr-FR" sz="1600" b="1" dirty="0"/>
              <a:t>outil projet</a:t>
            </a:r>
          </a:p>
          <a:p>
            <a:pPr marL="285750" indent="-285750">
              <a:buFont typeface="Arial" panose="020B0604020202020204" pitchFamily="34" charset="0"/>
              <a:buChar char="•"/>
            </a:pPr>
            <a:r>
              <a:rPr lang="fr-FR" sz="1600" dirty="0"/>
              <a:t>Besoin d’informer ou de formaliser =&gt; </a:t>
            </a:r>
            <a:r>
              <a:rPr lang="fr-FR" sz="1600" b="1" dirty="0"/>
              <a:t>mail</a:t>
            </a:r>
          </a:p>
          <a:p>
            <a:endParaRPr lang="fr-FR" sz="1600" dirty="0"/>
          </a:p>
          <a:p>
            <a:r>
              <a:rPr lang="fr-FR" sz="1600" dirty="0">
                <a:solidFill>
                  <a:srgbClr val="0F3E9F"/>
                </a:solidFill>
              </a:rPr>
              <a:t>Plus une conversation nécessite d’allers-retours, </a:t>
            </a:r>
          </a:p>
          <a:p>
            <a:r>
              <a:rPr lang="fr-FR" sz="1600" dirty="0">
                <a:solidFill>
                  <a:srgbClr val="0F3E9F"/>
                </a:solidFill>
              </a:rPr>
              <a:t>moins le mail est souvent le bon canal !</a:t>
            </a:r>
          </a:p>
        </p:txBody>
      </p:sp>
      <p:sp>
        <p:nvSpPr>
          <p:cNvPr id="6" name="ZoneTexte 5">
            <a:extLst>
              <a:ext uri="{FF2B5EF4-FFF2-40B4-BE49-F238E27FC236}">
                <a16:creationId xmlns:a16="http://schemas.microsoft.com/office/drawing/2014/main" id="{4C367DD6-4A30-8223-E3C5-C66E7EB9F699}"/>
              </a:ext>
            </a:extLst>
          </p:cNvPr>
          <p:cNvSpPr txBox="1"/>
          <p:nvPr/>
        </p:nvSpPr>
        <p:spPr>
          <a:xfrm rot="220054">
            <a:off x="7812442" y="2566460"/>
            <a:ext cx="3780330"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Déjà 4 mails échangés sur le même sujet</a:t>
            </a:r>
          </a:p>
        </p:txBody>
      </p:sp>
      <p:sp>
        <p:nvSpPr>
          <p:cNvPr id="11" name="ZoneTexte 10">
            <a:extLst>
              <a:ext uri="{FF2B5EF4-FFF2-40B4-BE49-F238E27FC236}">
                <a16:creationId xmlns:a16="http://schemas.microsoft.com/office/drawing/2014/main" id="{DB99BF8C-4C89-A573-A0D4-4A8D33EC843C}"/>
              </a:ext>
            </a:extLst>
          </p:cNvPr>
          <p:cNvSpPr txBox="1"/>
          <p:nvPr/>
        </p:nvSpPr>
        <p:spPr>
          <a:xfrm>
            <a:off x="7502894" y="2934919"/>
            <a:ext cx="3113096"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Un signe qu’il faut arrêter d’écrire</a:t>
            </a:r>
          </a:p>
        </p:txBody>
      </p:sp>
      <p:pic>
        <p:nvPicPr>
          <p:cNvPr id="5" name="Image 4">
            <a:extLst>
              <a:ext uri="{FF2B5EF4-FFF2-40B4-BE49-F238E27FC236}">
                <a16:creationId xmlns:a16="http://schemas.microsoft.com/office/drawing/2014/main" id="{C5E5FDFE-7A79-D4C8-6F23-E8BED173E4A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287548">
            <a:off x="722255" y="1939013"/>
            <a:ext cx="2683736" cy="3792845"/>
          </a:xfrm>
          <a:prstGeom prst="rect">
            <a:avLst/>
          </a:prstGeom>
        </p:spPr>
      </p:pic>
      <p:sp>
        <p:nvSpPr>
          <p:cNvPr id="8" name="ZoneTexte 7">
            <a:extLst>
              <a:ext uri="{FF2B5EF4-FFF2-40B4-BE49-F238E27FC236}">
                <a16:creationId xmlns:a16="http://schemas.microsoft.com/office/drawing/2014/main" id="{EF03FF8E-8B5D-FACB-6624-ED3AB454B97C}"/>
              </a:ext>
            </a:extLst>
          </p:cNvPr>
          <p:cNvSpPr txBox="1"/>
          <p:nvPr/>
        </p:nvSpPr>
        <p:spPr>
          <a:xfrm rot="309570">
            <a:off x="7819691" y="3426824"/>
            <a:ext cx="3927998" cy="584775"/>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Quelques minutes de discussion</a:t>
            </a:r>
          </a:p>
          <a:p>
            <a:r>
              <a:rPr lang="fr-FR" sz="1600" dirty="0"/>
              <a:t>Permettent souvent de clarifier la situation</a:t>
            </a:r>
          </a:p>
        </p:txBody>
      </p:sp>
    </p:spTree>
    <p:extLst>
      <p:ext uri="{BB962C8B-B14F-4D97-AF65-F5344CB8AC3E}">
        <p14:creationId xmlns:p14="http://schemas.microsoft.com/office/powerpoint/2010/main" val="1641382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0A11698-A4BC-569E-330D-4E3BADB07C96}"/>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A4B6BDC8-BDC1-BD1B-FEF7-932C9111ED35}"/>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2715E39D-7A21-5473-52A9-C08A6DEB22B2}"/>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DC2EFA9F-B744-C5C1-A3DF-342B51FC56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33C78B1C-835E-9006-168D-FF6EE95A8AB9}"/>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1DC1086E-D67B-0DD2-617B-903E2D6DF8D2}"/>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5FDECB2E-8652-C04C-5EF5-B6878F4B837C}"/>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6F738004-5FF8-5C87-73AA-FF5B36B0BE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C8E22905-1A07-D021-4648-11A034E0B3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730FED9A-D332-49E1-9EF4-21F78D0BB8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48278184-1392-33C9-2672-4ECC4E0AB73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2A8D8E94-F005-0AB1-C456-35BAA8BE48B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8259C888-66AE-01D2-C520-49CC33ABE7C6}"/>
              </a:ext>
            </a:extLst>
          </p:cNvPr>
          <p:cNvSpPr txBox="1"/>
          <p:nvPr/>
        </p:nvSpPr>
        <p:spPr>
          <a:xfrm>
            <a:off x="3250149" y="1658461"/>
            <a:ext cx="8466081" cy="4370427"/>
          </a:xfrm>
          <a:prstGeom prst="rect">
            <a:avLst/>
          </a:prstGeom>
          <a:noFill/>
        </p:spPr>
        <p:txBody>
          <a:bodyPr wrap="square" rtlCol="0">
            <a:spAutoFit/>
          </a:bodyPr>
          <a:lstStyle/>
          <a:p>
            <a:r>
              <a:rPr lang="fr-FR" b="1" dirty="0"/>
              <a:t>Tous les mails ne créent pas de valeur, certains ne font qu’occuper de l’espace dans les boîtes de réception. Multipliés par des centaines d’agents et des milliers de mails, cela devient un véritable bruit numérique. </a:t>
            </a:r>
          </a:p>
          <a:p>
            <a:endParaRPr lang="fr-FR" sz="1600" dirty="0"/>
          </a:p>
          <a:p>
            <a:r>
              <a:rPr lang="fr-FR" sz="1600" dirty="0"/>
              <a:t>Quand répondre ?</a:t>
            </a:r>
          </a:p>
          <a:p>
            <a:pPr marL="285750" indent="-285750">
              <a:buFont typeface="Arial" panose="020B0604020202020204" pitchFamily="34" charset="0"/>
              <a:buChar char="•"/>
            </a:pPr>
            <a:r>
              <a:rPr lang="fr-FR" sz="1600" dirty="0"/>
              <a:t>Pour poser une question,</a:t>
            </a:r>
          </a:p>
          <a:p>
            <a:pPr marL="285750" indent="-285750">
              <a:buFont typeface="Arial" panose="020B0604020202020204" pitchFamily="34" charset="0"/>
              <a:buChar char="•"/>
            </a:pPr>
            <a:r>
              <a:rPr lang="fr-FR" sz="1600" dirty="0"/>
              <a:t>Pour valider une action,</a:t>
            </a:r>
          </a:p>
          <a:p>
            <a:pPr marL="285750" indent="-285750">
              <a:buFont typeface="Arial" panose="020B0604020202020204" pitchFamily="34" charset="0"/>
              <a:buChar char="•"/>
            </a:pPr>
            <a:r>
              <a:rPr lang="fr-FR" sz="1600" dirty="0"/>
              <a:t>Pour apporter une précision,</a:t>
            </a:r>
          </a:p>
          <a:p>
            <a:pPr marL="285750" indent="-285750">
              <a:buFont typeface="Arial" panose="020B0604020202020204" pitchFamily="34" charset="0"/>
              <a:buChar char="•"/>
            </a:pPr>
            <a:r>
              <a:rPr lang="fr-FR" sz="1600" dirty="0"/>
              <a:t>Pour signaler un problème,</a:t>
            </a:r>
          </a:p>
          <a:p>
            <a:pPr marL="285750" indent="-285750">
              <a:buFont typeface="Arial" panose="020B0604020202020204" pitchFamily="34" charset="0"/>
              <a:buChar char="•"/>
            </a:pPr>
            <a:r>
              <a:rPr lang="fr-FR" sz="1600" dirty="0"/>
              <a:t>Pour prendre une décision.</a:t>
            </a:r>
          </a:p>
          <a:p>
            <a:pPr marL="285750" indent="-285750">
              <a:buFont typeface="Arial" panose="020B0604020202020204" pitchFamily="34" charset="0"/>
              <a:buChar char="•"/>
            </a:pPr>
            <a:endParaRPr lang="fr-FR" sz="1600" dirty="0"/>
          </a:p>
          <a:p>
            <a:r>
              <a:rPr lang="fr-FR" sz="1600" dirty="0"/>
              <a:t>Outlook propose déjà des solutions :</a:t>
            </a:r>
          </a:p>
          <a:p>
            <a:pPr marL="285750" indent="-285750">
              <a:buFont typeface="Arial" panose="020B0604020202020204" pitchFamily="34" charset="0"/>
              <a:buChar char="•"/>
            </a:pPr>
            <a:r>
              <a:rPr lang="fr-FR" sz="1600" dirty="0"/>
              <a:t>Accusé de réception,</a:t>
            </a:r>
          </a:p>
          <a:p>
            <a:pPr marL="285750" indent="-285750">
              <a:buFont typeface="Arial" panose="020B0604020202020204" pitchFamily="34" charset="0"/>
              <a:buChar char="•"/>
            </a:pPr>
            <a:r>
              <a:rPr lang="fr-FR" sz="1600" dirty="0"/>
              <a:t>Validation dans Zoom</a:t>
            </a:r>
            <a:endParaRPr lang="fr-FR" sz="1600" b="1" dirty="0"/>
          </a:p>
          <a:p>
            <a:endParaRPr lang="fr-FR" sz="1600" dirty="0"/>
          </a:p>
          <a:p>
            <a:r>
              <a:rPr lang="fr-FR" sz="1600" dirty="0">
                <a:solidFill>
                  <a:srgbClr val="0F3E9F"/>
                </a:solidFill>
              </a:rPr>
              <a:t>Plus une conversation nécessite d’allers-retours, </a:t>
            </a:r>
            <a:br>
              <a:rPr lang="fr-FR" sz="1600" dirty="0">
                <a:solidFill>
                  <a:srgbClr val="0F3E9F"/>
                </a:solidFill>
              </a:rPr>
            </a:br>
            <a:r>
              <a:rPr lang="fr-FR" sz="1600" dirty="0">
                <a:solidFill>
                  <a:srgbClr val="0F3E9F"/>
                </a:solidFill>
              </a:rPr>
              <a:t>moins le mail est souvent le bon canal !</a:t>
            </a:r>
          </a:p>
        </p:txBody>
      </p:sp>
      <p:sp>
        <p:nvSpPr>
          <p:cNvPr id="6" name="ZoneTexte 5">
            <a:extLst>
              <a:ext uri="{FF2B5EF4-FFF2-40B4-BE49-F238E27FC236}">
                <a16:creationId xmlns:a16="http://schemas.microsoft.com/office/drawing/2014/main" id="{FAF2590B-ECC8-A2A3-709B-E9D265C715E4}"/>
              </a:ext>
            </a:extLst>
          </p:cNvPr>
          <p:cNvSpPr txBox="1"/>
          <p:nvPr/>
        </p:nvSpPr>
        <p:spPr>
          <a:xfrm rot="220054">
            <a:off x="8951927" y="3468785"/>
            <a:ext cx="1254767"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4000 agents</a:t>
            </a:r>
          </a:p>
        </p:txBody>
      </p:sp>
      <p:sp>
        <p:nvSpPr>
          <p:cNvPr id="11" name="ZoneTexte 10">
            <a:extLst>
              <a:ext uri="{FF2B5EF4-FFF2-40B4-BE49-F238E27FC236}">
                <a16:creationId xmlns:a16="http://schemas.microsoft.com/office/drawing/2014/main" id="{6F4A439C-9E30-DA81-EABB-060605952AC5}"/>
              </a:ext>
            </a:extLst>
          </p:cNvPr>
          <p:cNvSpPr txBox="1"/>
          <p:nvPr/>
        </p:nvSpPr>
        <p:spPr>
          <a:xfrm>
            <a:off x="8309673" y="3898612"/>
            <a:ext cx="2447017"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5 mails parasites par jour,</a:t>
            </a:r>
          </a:p>
        </p:txBody>
      </p:sp>
      <p:sp>
        <p:nvSpPr>
          <p:cNvPr id="8" name="ZoneTexte 7">
            <a:extLst>
              <a:ext uri="{FF2B5EF4-FFF2-40B4-BE49-F238E27FC236}">
                <a16:creationId xmlns:a16="http://schemas.microsoft.com/office/drawing/2014/main" id="{E65B6BDC-FF4B-0AFA-8003-E4061144BEE8}"/>
              </a:ext>
            </a:extLst>
          </p:cNvPr>
          <p:cNvSpPr txBox="1"/>
          <p:nvPr/>
        </p:nvSpPr>
        <p:spPr>
          <a:xfrm rot="309570">
            <a:off x="8074050" y="4414250"/>
            <a:ext cx="2866169"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10 secondes pour lire et traiter</a:t>
            </a:r>
          </a:p>
        </p:txBody>
      </p:sp>
      <p:pic>
        <p:nvPicPr>
          <p:cNvPr id="3" name="Image 2">
            <a:extLst>
              <a:ext uri="{FF2B5EF4-FFF2-40B4-BE49-F238E27FC236}">
                <a16:creationId xmlns:a16="http://schemas.microsoft.com/office/drawing/2014/main" id="{62ADB77F-2F14-AFD4-1D0F-1ECBDBF28A2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08075">
            <a:off x="402099" y="1936622"/>
            <a:ext cx="2551502" cy="3605963"/>
          </a:xfrm>
          <a:prstGeom prst="rect">
            <a:avLst/>
          </a:prstGeom>
        </p:spPr>
      </p:pic>
    </p:spTree>
    <p:extLst>
      <p:ext uri="{BB962C8B-B14F-4D97-AF65-F5344CB8AC3E}">
        <p14:creationId xmlns:p14="http://schemas.microsoft.com/office/powerpoint/2010/main" val="3185640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4F4B8F1-4333-23A3-8135-E83D4CA79169}"/>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BBA17C7B-F941-0BA4-46B0-EA3416D080DF}"/>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A2F36758-6A4E-DFAF-6BD6-DA1184D18C1B}"/>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7EF595A7-DF5B-EB6B-359E-49A74946C3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622239ED-5C0F-9864-7016-0BC4BE07F00B}"/>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78E81411-FB59-4419-EB6A-BAB1305985FD}"/>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D5E38A8E-79E8-7307-FA9E-C16621A311C8}"/>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CE4F1DFE-8979-9882-6B03-85D9DAB7CA7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92859666-F385-59C8-BDA8-6B8E4D1CE05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41AE020A-BC2F-06A0-445E-387A91DB6AF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54D06252-3260-D1D1-F6D6-4513E96B082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C3742165-0A4E-F09F-9016-DDF8CAE2914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D01DB8CE-D656-4C77-4E3A-0CEDE7700119}"/>
              </a:ext>
            </a:extLst>
          </p:cNvPr>
          <p:cNvSpPr txBox="1"/>
          <p:nvPr/>
        </p:nvSpPr>
        <p:spPr>
          <a:xfrm>
            <a:off x="3250149" y="1594453"/>
            <a:ext cx="8466081" cy="4370427"/>
          </a:xfrm>
          <a:prstGeom prst="rect">
            <a:avLst/>
          </a:prstGeom>
          <a:noFill/>
        </p:spPr>
        <p:txBody>
          <a:bodyPr wrap="square" rtlCol="0">
            <a:spAutoFit/>
          </a:bodyPr>
          <a:lstStyle/>
          <a:p>
            <a:r>
              <a:rPr lang="fr-FR" b="1" dirty="0"/>
              <a:t>Un fil de discussion doit raconter une seule histoire. Lorsque le sujet change, le fil doit changer aussi. Sinon, on se retrouve avec des conversations impossibles à suivre et des recherches qui tournent au jeu de piste.</a:t>
            </a:r>
          </a:p>
          <a:p>
            <a:endParaRPr lang="fr-FR" sz="1600" dirty="0"/>
          </a:p>
          <a:p>
            <a:r>
              <a:rPr lang="fr-FR" b="1" dirty="0"/>
              <a:t>Exemple :</a:t>
            </a:r>
          </a:p>
          <a:p>
            <a:r>
              <a:rPr lang="fr-FR" sz="1600" b="1" dirty="0"/>
              <a:t>Objet initial : Réunion projet copieurs</a:t>
            </a:r>
          </a:p>
          <a:p>
            <a:r>
              <a:rPr lang="fr-FR" sz="1600" dirty="0"/>
              <a:t>Quelques réponses plus tard, le fil parle de :</a:t>
            </a:r>
          </a:p>
          <a:p>
            <a:pPr marL="285750" indent="-285750">
              <a:buFont typeface="Arial" panose="020B0604020202020204" pitchFamily="34" charset="0"/>
              <a:buChar char="•"/>
            </a:pPr>
            <a:r>
              <a:rPr lang="fr-FR" sz="1600" dirty="0"/>
              <a:t>Budget ;</a:t>
            </a:r>
          </a:p>
          <a:p>
            <a:pPr marL="285750" indent="-285750">
              <a:buFont typeface="Arial" panose="020B0604020202020204" pitchFamily="34" charset="0"/>
              <a:buChar char="•"/>
            </a:pPr>
            <a:r>
              <a:rPr lang="fr-FR" sz="1600" dirty="0"/>
              <a:t>Organisation ;</a:t>
            </a:r>
          </a:p>
          <a:p>
            <a:pPr marL="285750" indent="-285750">
              <a:buFont typeface="Arial" panose="020B0604020202020204" pitchFamily="34" charset="0"/>
              <a:buChar char="•"/>
            </a:pPr>
            <a:r>
              <a:rPr lang="fr-FR" sz="1600" dirty="0"/>
              <a:t>Matériel ;</a:t>
            </a:r>
          </a:p>
          <a:p>
            <a:pPr marL="285750" indent="-285750">
              <a:buFont typeface="Arial" panose="020B0604020202020204" pitchFamily="34" charset="0"/>
              <a:buChar char="•"/>
            </a:pPr>
            <a:r>
              <a:rPr lang="fr-FR" sz="1600" dirty="0"/>
              <a:t>Congés ;</a:t>
            </a:r>
          </a:p>
          <a:p>
            <a:pPr marL="285750" indent="-285750">
              <a:buFont typeface="Arial" panose="020B0604020202020204" pitchFamily="34" charset="0"/>
              <a:buChar char="•"/>
            </a:pPr>
            <a:r>
              <a:rPr lang="fr-FR" sz="1600" dirty="0"/>
              <a:t>Réservation de salle.</a:t>
            </a:r>
          </a:p>
          <a:p>
            <a:endParaRPr lang="fr-FR" sz="1600" dirty="0"/>
          </a:p>
          <a:p>
            <a:r>
              <a:rPr lang="fr-FR" sz="1600" dirty="0"/>
              <a:t>Et pourtant, l’objet est toujours : </a:t>
            </a:r>
            <a:r>
              <a:rPr lang="fr-FR" sz="1600" b="1" dirty="0"/>
              <a:t>Re: Re: Re Réunion projet copieurs.</a:t>
            </a:r>
          </a:p>
          <a:p>
            <a:pPr marL="285750" indent="-285750">
              <a:buFont typeface="Arial" panose="020B0604020202020204" pitchFamily="34" charset="0"/>
              <a:buChar char="•"/>
            </a:pPr>
            <a:endParaRPr lang="fr-FR" sz="1600" dirty="0"/>
          </a:p>
          <a:p>
            <a:r>
              <a:rPr lang="fr-FR" sz="1600" dirty="0">
                <a:solidFill>
                  <a:srgbClr val="0F3E9F"/>
                </a:solidFill>
              </a:rPr>
              <a:t>Un fil de discussion qui change de sujet sans changer d’objet, c’est comme un classeur où l’on rangerait les factures, les congés et les comptes-rendus dans la même pochette.</a:t>
            </a:r>
          </a:p>
        </p:txBody>
      </p:sp>
      <p:sp>
        <p:nvSpPr>
          <p:cNvPr id="6" name="ZoneTexte 5">
            <a:extLst>
              <a:ext uri="{FF2B5EF4-FFF2-40B4-BE49-F238E27FC236}">
                <a16:creationId xmlns:a16="http://schemas.microsoft.com/office/drawing/2014/main" id="{8E62EFAE-8D6B-2367-E058-89E190F30AC4}"/>
              </a:ext>
            </a:extLst>
          </p:cNvPr>
          <p:cNvSpPr txBox="1"/>
          <p:nvPr/>
        </p:nvSpPr>
        <p:spPr>
          <a:xfrm rot="220054">
            <a:off x="8250420" y="2792571"/>
            <a:ext cx="2135994" cy="338554"/>
          </a:xfrm>
          <a:prstGeom prst="rect">
            <a:avLst/>
          </a:prstGeom>
          <a:solidFill>
            <a:schemeClr val="tx2">
              <a:lumMod val="10000"/>
              <a:lumOff val="90000"/>
            </a:schemeClr>
          </a:solidFill>
          <a:ln>
            <a:solidFill>
              <a:schemeClr val="bg2">
                <a:lumMod val="75000"/>
              </a:schemeClr>
            </a:solidFill>
          </a:ln>
        </p:spPr>
        <p:txBody>
          <a:bodyPr wrap="square" rtlCol="0">
            <a:spAutoFit/>
          </a:bodyPr>
          <a:lstStyle/>
          <a:p>
            <a:r>
              <a:rPr lang="fr-FR" sz="1600" dirty="0"/>
              <a:t>Recherches efficaces</a:t>
            </a:r>
          </a:p>
        </p:txBody>
      </p:sp>
      <p:sp>
        <p:nvSpPr>
          <p:cNvPr id="11" name="ZoneTexte 10">
            <a:extLst>
              <a:ext uri="{FF2B5EF4-FFF2-40B4-BE49-F238E27FC236}">
                <a16:creationId xmlns:a16="http://schemas.microsoft.com/office/drawing/2014/main" id="{1273F5C8-F937-8153-D643-2CA4AA21BC3C}"/>
              </a:ext>
            </a:extLst>
          </p:cNvPr>
          <p:cNvSpPr txBox="1"/>
          <p:nvPr/>
        </p:nvSpPr>
        <p:spPr>
          <a:xfrm>
            <a:off x="8190652" y="3237255"/>
            <a:ext cx="2632965"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Echanges compréhensibles</a:t>
            </a:r>
          </a:p>
        </p:txBody>
      </p:sp>
      <p:sp>
        <p:nvSpPr>
          <p:cNvPr id="8" name="ZoneTexte 7">
            <a:extLst>
              <a:ext uri="{FF2B5EF4-FFF2-40B4-BE49-F238E27FC236}">
                <a16:creationId xmlns:a16="http://schemas.microsoft.com/office/drawing/2014/main" id="{260E6DA6-A2B4-D1B1-3B93-4888ED0C2B78}"/>
              </a:ext>
            </a:extLst>
          </p:cNvPr>
          <p:cNvSpPr txBox="1"/>
          <p:nvPr/>
        </p:nvSpPr>
        <p:spPr>
          <a:xfrm rot="309570">
            <a:off x="7635354" y="3647107"/>
            <a:ext cx="3260444"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Tout le monde sait de quoi on parle</a:t>
            </a:r>
          </a:p>
        </p:txBody>
      </p:sp>
      <p:pic>
        <p:nvPicPr>
          <p:cNvPr id="5" name="Image 4">
            <a:extLst>
              <a:ext uri="{FF2B5EF4-FFF2-40B4-BE49-F238E27FC236}">
                <a16:creationId xmlns:a16="http://schemas.microsoft.com/office/drawing/2014/main" id="{3401B051-0F96-244B-E2B8-379832F9AE8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76949">
            <a:off x="419403" y="1928458"/>
            <a:ext cx="2590025" cy="3660405"/>
          </a:xfrm>
          <a:prstGeom prst="rect">
            <a:avLst/>
          </a:prstGeom>
        </p:spPr>
      </p:pic>
      <p:sp>
        <p:nvSpPr>
          <p:cNvPr id="9" name="ZoneTexte 8">
            <a:extLst>
              <a:ext uri="{FF2B5EF4-FFF2-40B4-BE49-F238E27FC236}">
                <a16:creationId xmlns:a16="http://schemas.microsoft.com/office/drawing/2014/main" id="{B4804B08-48B0-B8B4-FBB7-DEEBD0F9986E}"/>
              </a:ext>
            </a:extLst>
          </p:cNvPr>
          <p:cNvSpPr txBox="1"/>
          <p:nvPr/>
        </p:nvSpPr>
        <p:spPr>
          <a:xfrm>
            <a:off x="7483189" y="4126356"/>
            <a:ext cx="3902607"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Historique reste exploitable dans le temps</a:t>
            </a:r>
          </a:p>
        </p:txBody>
      </p:sp>
    </p:spTree>
    <p:extLst>
      <p:ext uri="{BB962C8B-B14F-4D97-AF65-F5344CB8AC3E}">
        <p14:creationId xmlns:p14="http://schemas.microsoft.com/office/powerpoint/2010/main" val="3825190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4C506E1-7A99-1C87-1490-7C7EB2B9F1B0}"/>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1D673E4F-6699-09F3-5EE6-A5A6854ECDEF}"/>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B778654F-FDBD-E997-7A9B-82DC3E662D53}"/>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AF6BB0B0-DFC7-2368-15D2-C191EED5BF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F6C81A3C-CE7D-06B5-CD40-A820C30B5273}"/>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217C0258-E587-BF84-DE23-35403985084F}"/>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FA0EC753-FFB9-AC3F-C794-72E6B2F09E3D}"/>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E5FF850C-1CEE-E73B-39C0-C2E2115EFB3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471C187D-4977-B8EC-C574-55837827DDD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F7024A69-F7ED-2F0A-FEB2-88F9CB253F2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FBB20BB6-42B9-EAD0-971A-5C3E7CB389E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466792AE-C89E-C6A0-C7F6-3B638D8E9F4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40E7A379-0E7B-E1BC-E012-9B64D8D53B73}"/>
              </a:ext>
            </a:extLst>
          </p:cNvPr>
          <p:cNvSpPr txBox="1"/>
          <p:nvPr/>
        </p:nvSpPr>
        <p:spPr>
          <a:xfrm>
            <a:off x="3831336" y="1466437"/>
            <a:ext cx="7884894" cy="4585871"/>
          </a:xfrm>
          <a:prstGeom prst="rect">
            <a:avLst/>
          </a:prstGeom>
          <a:noFill/>
        </p:spPr>
        <p:txBody>
          <a:bodyPr wrap="square" rtlCol="0">
            <a:spAutoFit/>
          </a:bodyPr>
          <a:lstStyle/>
          <a:p>
            <a:r>
              <a:rPr lang="fr-FR" b="1" dirty="0"/>
              <a:t>La boîte de réception n’est pas une liste de tâches. Son rôle est de recevoir des informations, pas de les stocker indéfiniment.</a:t>
            </a:r>
            <a:endParaRPr lang="fr-FR" sz="1600" dirty="0"/>
          </a:p>
          <a:p>
            <a:endParaRPr lang="fr-FR" sz="1600" dirty="0"/>
          </a:p>
          <a:p>
            <a:r>
              <a:rPr lang="fr-FR" sz="1600" b="1" dirty="0"/>
              <a:t>Do (Faire) : </a:t>
            </a:r>
            <a:r>
              <a:rPr lang="fr-FR" sz="1600" dirty="0"/>
              <a:t>Si le traitement prend moins de 2 minutes.</a:t>
            </a:r>
          </a:p>
          <a:p>
            <a:pPr marL="285750" indent="-285750">
              <a:buFont typeface="Arial" panose="020B0604020202020204" pitchFamily="34" charset="0"/>
              <a:buChar char="•"/>
            </a:pPr>
            <a:r>
              <a:rPr lang="fr-FR" sz="1600" dirty="0"/>
              <a:t>Faites-le tout de suite, répondez, validez, transmettez, ou signez …</a:t>
            </a:r>
          </a:p>
          <a:p>
            <a:pPr marL="285750" indent="-285750">
              <a:buFont typeface="Arial" panose="020B0604020202020204" pitchFamily="34" charset="0"/>
              <a:buChar char="•"/>
            </a:pPr>
            <a:endParaRPr lang="fr-FR" sz="1600" dirty="0"/>
          </a:p>
          <a:p>
            <a:r>
              <a:rPr lang="fr-FR" sz="1600" b="1" dirty="0"/>
              <a:t>Defer (Reporter) : </a:t>
            </a:r>
            <a:r>
              <a:rPr lang="fr-FR" sz="1600" dirty="0"/>
              <a:t>Le sujet est important mais demande du temps.</a:t>
            </a:r>
          </a:p>
          <a:p>
            <a:pPr marL="285750" indent="-285750">
              <a:buFont typeface="Arial" panose="020B0604020202020204" pitchFamily="34" charset="0"/>
              <a:buChar char="•"/>
            </a:pPr>
            <a:r>
              <a:rPr lang="fr-FR" sz="1600" dirty="0"/>
              <a:t>Planifiez-le, créez une tache Outlook, un rappel, ou une entrée dans l’agenda.</a:t>
            </a:r>
          </a:p>
          <a:p>
            <a:pPr marL="285750" indent="-285750">
              <a:buFont typeface="Arial" panose="020B0604020202020204" pitchFamily="34" charset="0"/>
              <a:buChar char="•"/>
            </a:pPr>
            <a:endParaRPr lang="fr-FR" sz="1600" dirty="0"/>
          </a:p>
          <a:p>
            <a:r>
              <a:rPr lang="fr-FR" sz="1600" b="1" dirty="0" err="1"/>
              <a:t>Delegate</a:t>
            </a:r>
            <a:r>
              <a:rPr lang="fr-FR" sz="1600" dirty="0"/>
              <a:t> (Déléguer) : Vous n’êtes pas la bonne personne.</a:t>
            </a:r>
          </a:p>
          <a:p>
            <a:pPr marL="285750" indent="-285750">
              <a:buFont typeface="Arial" panose="020B0604020202020204" pitchFamily="34" charset="0"/>
              <a:buChar char="•"/>
            </a:pPr>
            <a:r>
              <a:rPr lang="fr-FR" sz="1600" dirty="0"/>
              <a:t>Transférez au bon interlocuteur, « pouvez vous le prendre en charge ? », évitez de conserver dans votre boîte des mails qui concernent quelqu’un d’autre.</a:t>
            </a:r>
          </a:p>
          <a:p>
            <a:pPr marL="285750" indent="-285750">
              <a:buFont typeface="Arial" panose="020B0604020202020204" pitchFamily="34" charset="0"/>
              <a:buChar char="•"/>
            </a:pPr>
            <a:endParaRPr lang="fr-FR" sz="1600" dirty="0"/>
          </a:p>
          <a:p>
            <a:r>
              <a:rPr lang="fr-FR" sz="1600" b="1" dirty="0" err="1"/>
              <a:t>Delete</a:t>
            </a:r>
            <a:r>
              <a:rPr lang="fr-FR" sz="1600" dirty="0"/>
              <a:t> (Supprimer) : Le mail n’a aucune utilité future.</a:t>
            </a:r>
          </a:p>
          <a:p>
            <a:pPr marL="285750" indent="-285750">
              <a:buFont typeface="Arial" panose="020B0604020202020204" pitchFamily="34" charset="0"/>
              <a:buChar char="•"/>
            </a:pPr>
            <a:r>
              <a:rPr lang="fr-FR" sz="1600" dirty="0"/>
              <a:t>Sans culpabilité, toutes les informations n’ont pas vocation à être conservées.</a:t>
            </a:r>
          </a:p>
          <a:p>
            <a:pPr marL="285750" indent="-285750">
              <a:buFont typeface="Arial" panose="020B0604020202020204" pitchFamily="34" charset="0"/>
              <a:buChar char="•"/>
            </a:pPr>
            <a:endParaRPr lang="fr-FR" sz="1600" dirty="0"/>
          </a:p>
          <a:p>
            <a:r>
              <a:rPr lang="fr-FR" sz="1600" dirty="0">
                <a:solidFill>
                  <a:srgbClr val="0F3E9F"/>
                </a:solidFill>
              </a:rPr>
              <a:t>Beaucoup d’utilisateurs pratiquent la 5D :</a:t>
            </a:r>
          </a:p>
          <a:p>
            <a:pPr marL="285750" indent="-285750">
              <a:buFont typeface="Arial" panose="020B0604020202020204" pitchFamily="34" charset="0"/>
              <a:buChar char="•"/>
            </a:pPr>
            <a:r>
              <a:rPr lang="fr-FR" sz="1600" dirty="0">
                <a:solidFill>
                  <a:srgbClr val="0F3E9F"/>
                </a:solidFill>
              </a:rPr>
              <a:t>Demain … « Je laisse dans ma boîte et je verrai plus tard. »</a:t>
            </a:r>
          </a:p>
        </p:txBody>
      </p:sp>
      <p:pic>
        <p:nvPicPr>
          <p:cNvPr id="3" name="Image 2">
            <a:extLst>
              <a:ext uri="{FF2B5EF4-FFF2-40B4-BE49-F238E27FC236}">
                <a16:creationId xmlns:a16="http://schemas.microsoft.com/office/drawing/2014/main" id="{02EC425B-7657-8F67-B10C-2AEBF5FBC778}"/>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94197">
            <a:off x="529637" y="1848345"/>
            <a:ext cx="2857540" cy="4038475"/>
          </a:xfrm>
          <a:prstGeom prst="rect">
            <a:avLst/>
          </a:prstGeom>
        </p:spPr>
      </p:pic>
    </p:spTree>
    <p:extLst>
      <p:ext uri="{BB962C8B-B14F-4D97-AF65-F5344CB8AC3E}">
        <p14:creationId xmlns:p14="http://schemas.microsoft.com/office/powerpoint/2010/main" val="498031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0710A54-57E3-60C5-E151-962728AD924C}"/>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10140D5C-C335-1C5C-7E62-7ED83CDA446D}"/>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4C67502B-B60E-A296-FC4F-9C55D131EEC8}"/>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BDAEAE60-1857-E096-7E5D-FD1AE96A35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046020C4-A30B-F818-0415-91953B58EBE3}"/>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1572C3E2-5BAD-0D64-CD73-3BF097C869BA}"/>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3138F688-D9B6-A784-7A9E-25F80DA584C4}"/>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F006752D-37FF-A618-0DB3-783EA2138C3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F45FB27A-5E5A-D688-FE95-0713B026105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B430141B-700B-0248-70EC-D6F6C59C101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69BE71A4-40F1-3F7B-BBB5-1A48E5D3980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4C9A21BA-4B4F-DDA9-7E65-9237CFC2C41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BAD3A018-4892-F56E-E7D8-4CDD73A6ED4C}"/>
              </a:ext>
            </a:extLst>
          </p:cNvPr>
          <p:cNvSpPr txBox="1"/>
          <p:nvPr/>
        </p:nvSpPr>
        <p:spPr>
          <a:xfrm>
            <a:off x="3822192" y="1676365"/>
            <a:ext cx="7884894" cy="4124206"/>
          </a:xfrm>
          <a:prstGeom prst="rect">
            <a:avLst/>
          </a:prstGeom>
          <a:noFill/>
        </p:spPr>
        <p:txBody>
          <a:bodyPr wrap="square" rtlCol="0">
            <a:spAutoFit/>
          </a:bodyPr>
          <a:lstStyle/>
          <a:p>
            <a:r>
              <a:rPr lang="fr-FR" b="1" dirty="0"/>
              <a:t>Votre boîte de réception ne devrait pas être un lieu de stockage. Elle devrait être un lieu de passage. Plus elle contient de mails, plus il devient difficile d’identifier ce qui mérite réellement votre attention.</a:t>
            </a:r>
          </a:p>
          <a:p>
            <a:endParaRPr lang="fr-FR" sz="1600" b="1" dirty="0"/>
          </a:p>
          <a:p>
            <a:r>
              <a:rPr lang="fr-FR" sz="1600" dirty="0"/>
              <a:t>Outlook sait faire une grande partie du travail à votre place.</a:t>
            </a:r>
          </a:p>
          <a:p>
            <a:r>
              <a:rPr lang="fr-FR" sz="1600" dirty="0"/>
              <a:t>Vous pouvez créer des dossiers, et demander à Outlook, si des mails viennent de telle personne ou contiennent tel mot-clé, et de les ranger dedans directement.</a:t>
            </a:r>
          </a:p>
          <a:p>
            <a:endParaRPr lang="fr-FR" sz="1600" dirty="0"/>
          </a:p>
          <a:p>
            <a:r>
              <a:rPr lang="fr-FR" sz="1600" dirty="0"/>
              <a:t>La question à se poser avec les règles est : </a:t>
            </a:r>
            <a:br>
              <a:rPr lang="fr-FR" sz="1600" dirty="0"/>
            </a:br>
            <a:r>
              <a:rPr lang="fr-FR" sz="1600" b="1" dirty="0"/>
              <a:t>« Quels sont les mails que je range toujours au même endroit ? »</a:t>
            </a:r>
          </a:p>
          <a:p>
            <a:endParaRPr lang="fr-FR" sz="1600" dirty="0"/>
          </a:p>
          <a:p>
            <a:r>
              <a:rPr lang="fr-FR" sz="1600" dirty="0"/>
              <a:t>Mise en garde, les règles sont très puissantes, mais une règle mal configurée peut aussi cacher un mail important.</a:t>
            </a:r>
          </a:p>
          <a:p>
            <a:endParaRPr lang="fr-FR" sz="1600" dirty="0"/>
          </a:p>
          <a:p>
            <a:endParaRPr lang="fr-FR" sz="1600" dirty="0"/>
          </a:p>
          <a:p>
            <a:r>
              <a:rPr lang="fr-FR" sz="1600" dirty="0">
                <a:solidFill>
                  <a:srgbClr val="0F3E9F"/>
                </a:solidFill>
              </a:rPr>
              <a:t>Finalement, le meilleur tri de mail est celui que vous n’avez jamais eu besoin de faire !</a:t>
            </a:r>
          </a:p>
        </p:txBody>
      </p:sp>
      <p:pic>
        <p:nvPicPr>
          <p:cNvPr id="5" name="Image 4">
            <a:extLst>
              <a:ext uri="{FF2B5EF4-FFF2-40B4-BE49-F238E27FC236}">
                <a16:creationId xmlns:a16="http://schemas.microsoft.com/office/drawing/2014/main" id="{FF1A89AB-C695-6152-C76B-E852DFA1A984}"/>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31506">
            <a:off x="526330" y="1777267"/>
            <a:ext cx="2907833" cy="4109553"/>
          </a:xfrm>
          <a:prstGeom prst="rect">
            <a:avLst/>
          </a:prstGeom>
        </p:spPr>
      </p:pic>
    </p:spTree>
    <p:extLst>
      <p:ext uri="{BB962C8B-B14F-4D97-AF65-F5344CB8AC3E}">
        <p14:creationId xmlns:p14="http://schemas.microsoft.com/office/powerpoint/2010/main" val="1652449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995864F-E4AE-A46C-2478-ABA815F76C90}"/>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3B6D1C2F-F26F-BEEB-460A-74697D63CFC1}"/>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C97DC457-D78F-E963-DB4E-D5035920B976}"/>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90A90CBF-1190-0468-1B74-FD138A0DC3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EE9AD04F-A990-91CD-DB73-D285C17C9122}"/>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3864DD6B-989C-4F8C-93A5-77D71E0C17DF}"/>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8ECFB4AD-5AB3-7DF1-7D2F-36B5F3F843BD}"/>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E188C455-144F-072A-CB7B-D30EA553A50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B43F68DC-B28A-5F9C-F4FF-2B33CD3BC2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BA9C8B04-8F64-638D-4237-E6C2012F960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C79AEBE9-096C-0164-C7BF-69A26342EB5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3653A2AB-FD40-0367-3743-B272C97CD35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7A5121D3-4CAF-F5E8-24DE-FDC93AF53B80}"/>
              </a:ext>
            </a:extLst>
          </p:cNvPr>
          <p:cNvSpPr txBox="1"/>
          <p:nvPr/>
        </p:nvSpPr>
        <p:spPr>
          <a:xfrm>
            <a:off x="3822192" y="1676365"/>
            <a:ext cx="7884894" cy="4124206"/>
          </a:xfrm>
          <a:prstGeom prst="rect">
            <a:avLst/>
          </a:prstGeom>
          <a:noFill/>
        </p:spPr>
        <p:txBody>
          <a:bodyPr wrap="square" rtlCol="0">
            <a:spAutoFit/>
          </a:bodyPr>
          <a:lstStyle/>
          <a:p>
            <a:r>
              <a:rPr lang="fr-FR" b="1" dirty="0"/>
              <a:t>Beaucoup de personnes utilisent leur boite mail comme une bibliothèque. Le problème, c’est qu’une bibliothèque où l’on empile tout sans organisation devient rapidement inutilisable.</a:t>
            </a:r>
          </a:p>
          <a:p>
            <a:endParaRPr lang="fr-FR" sz="1600" b="1" dirty="0"/>
          </a:p>
          <a:p>
            <a:r>
              <a:rPr lang="fr-FR" sz="1600" dirty="0"/>
              <a:t>Le document est stocké à un seul endroit. Le mail contient alors simplement </a:t>
            </a:r>
            <a:br>
              <a:rPr lang="fr-FR" sz="1600" dirty="0"/>
            </a:br>
            <a:r>
              <a:rPr lang="fr-FR" sz="1600" b="1" dirty="0"/>
              <a:t>« Le document est disponible ici </a:t>
            </a:r>
            <a:r>
              <a:rPr lang="fr-FR" sz="1600" dirty="0"/>
              <a:t>», Tout le monde consulte la même version.</a:t>
            </a:r>
          </a:p>
          <a:p>
            <a:endParaRPr lang="fr-FR" sz="1600" dirty="0"/>
          </a:p>
          <a:p>
            <a:r>
              <a:rPr lang="fr-FR" sz="1600" dirty="0"/>
              <a:t>Pourquoi c’est important :</a:t>
            </a:r>
          </a:p>
          <a:p>
            <a:pPr marL="285750" indent="-285750">
              <a:buFont typeface="Arial" panose="020B0604020202020204" pitchFamily="34" charset="0"/>
              <a:buChar char="•"/>
            </a:pPr>
            <a:r>
              <a:rPr lang="fr-FR" sz="1600" dirty="0"/>
              <a:t>Une seule version de référence</a:t>
            </a:r>
          </a:p>
          <a:p>
            <a:pPr marL="285750" indent="-285750">
              <a:buFont typeface="Arial" panose="020B0604020202020204" pitchFamily="34" charset="0"/>
              <a:buChar char="•"/>
            </a:pPr>
            <a:r>
              <a:rPr lang="fr-FR" sz="1600" dirty="0"/>
              <a:t>Moins de doublons</a:t>
            </a:r>
          </a:p>
          <a:p>
            <a:pPr marL="285750" indent="-285750">
              <a:buFont typeface="Arial" panose="020B0604020202020204" pitchFamily="34" charset="0"/>
              <a:buChar char="•"/>
            </a:pPr>
            <a:r>
              <a:rPr lang="fr-FR" sz="1600" dirty="0"/>
              <a:t>Recherche plus rapide</a:t>
            </a:r>
          </a:p>
          <a:p>
            <a:pPr marL="285750" indent="-285750">
              <a:buFont typeface="Arial" panose="020B0604020202020204" pitchFamily="34" charset="0"/>
              <a:buChar char="•"/>
            </a:pPr>
            <a:r>
              <a:rPr lang="fr-FR" sz="1600" dirty="0"/>
              <a:t>Meilleure continuité lorsqu’une personne change de poste</a:t>
            </a:r>
          </a:p>
          <a:p>
            <a:endParaRPr lang="fr-FR" sz="1600" dirty="0"/>
          </a:p>
          <a:p>
            <a:r>
              <a:rPr lang="fr-FR" sz="1600" dirty="0">
                <a:solidFill>
                  <a:srgbClr val="0F3E9F"/>
                </a:solidFill>
              </a:rPr>
              <a:t>Si la seule personne capable de retrouver une information est celle qui a reçu le mail il y a trois ans, alors nous avons un problème d’organisation, pas un problème de recherche. </a:t>
            </a:r>
          </a:p>
        </p:txBody>
      </p:sp>
      <p:pic>
        <p:nvPicPr>
          <p:cNvPr id="3" name="Image 2">
            <a:extLst>
              <a:ext uri="{FF2B5EF4-FFF2-40B4-BE49-F238E27FC236}">
                <a16:creationId xmlns:a16="http://schemas.microsoft.com/office/drawing/2014/main" id="{E368F90C-812D-AE2B-6723-4C0B6EB6A18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432553">
            <a:off x="545303" y="1676365"/>
            <a:ext cx="2835670" cy="4007567"/>
          </a:xfrm>
          <a:prstGeom prst="rect">
            <a:avLst/>
          </a:prstGeom>
        </p:spPr>
      </p:pic>
    </p:spTree>
    <p:extLst>
      <p:ext uri="{BB962C8B-B14F-4D97-AF65-F5344CB8AC3E}">
        <p14:creationId xmlns:p14="http://schemas.microsoft.com/office/powerpoint/2010/main" val="1851526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E70EDC8-CDD7-D699-7321-042ACA62F803}"/>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E7B42CD6-C78B-D74D-4E8F-B2D491A175FF}"/>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1DC451B9-9807-58D1-8A19-30112EB972EB}"/>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AF9EF418-1396-285B-D2D3-ED4F877C73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8FF8B9D5-80BF-646C-2479-4B67AE602863}"/>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0B7E0B4B-3B64-82DB-2C17-0FF502EA7FF3}"/>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FF6F826C-329E-29C6-C359-9988B1648D98}"/>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DA6DFDFC-DF8B-07E8-BBAB-6E2FFDF570B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9ED8DB81-D038-7A52-A7D7-261EFE0222F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9FB938E6-8D37-6D05-8649-4ED09CEDC4A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D3BDD73A-F625-00B2-6B02-D09D3D38BD4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EB48919E-BECB-95A1-3FB0-A01336865C5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9490A4D0-AA23-25F7-1459-A5179965BF4B}"/>
              </a:ext>
            </a:extLst>
          </p:cNvPr>
          <p:cNvSpPr txBox="1"/>
          <p:nvPr/>
        </p:nvSpPr>
        <p:spPr>
          <a:xfrm>
            <a:off x="3822192" y="1676365"/>
            <a:ext cx="7884894" cy="4185761"/>
          </a:xfrm>
          <a:prstGeom prst="rect">
            <a:avLst/>
          </a:prstGeom>
          <a:noFill/>
        </p:spPr>
        <p:txBody>
          <a:bodyPr wrap="square" rtlCol="0">
            <a:spAutoFit/>
          </a:bodyPr>
          <a:lstStyle/>
          <a:p>
            <a:r>
              <a:rPr lang="fr-FR" b="1" dirty="0"/>
              <a:t>Consulter sa boîte toutes les quelques minutes donne l'impression d'être réactif. En réalité, cela transforme la journée en succession d'interruptions. Chaque fois que l'on quitte un dossier pour lire un mail, il faut ensuite retrouver le fil de sa réflexion. À la fin de la journée, on a traité beaucoup de mails... mais peu de sujets de fond.</a:t>
            </a:r>
          </a:p>
          <a:p>
            <a:endParaRPr lang="fr-FR" sz="1600" b="1" dirty="0"/>
          </a:p>
          <a:p>
            <a:r>
              <a:rPr lang="fr-FR" sz="1600" b="1" dirty="0"/>
              <a:t>Le bon réflexe : </a:t>
            </a:r>
            <a:r>
              <a:rPr lang="fr-FR" sz="1600" dirty="0"/>
              <a:t>une fois le matin, une fois vers midi, une fois en fin d’après-midi. L’idée est de consulter ses mails volontairement plutôt que subir ses mails en permanence.</a:t>
            </a:r>
          </a:p>
          <a:p>
            <a:endParaRPr lang="fr-FR" sz="1600" dirty="0"/>
          </a:p>
          <a:p>
            <a:r>
              <a:rPr lang="fr-FR" sz="1600" i="1" dirty="0">
                <a:solidFill>
                  <a:srgbClr val="FF0000"/>
                </a:solidFill>
              </a:rPr>
              <a:t>Les urgences ne devraient jamais dépendre d’un mail !</a:t>
            </a:r>
          </a:p>
          <a:p>
            <a:endParaRPr lang="fr-FR" sz="1600" dirty="0"/>
          </a:p>
          <a:p>
            <a:r>
              <a:rPr lang="fr-FR" sz="1600" dirty="0"/>
              <a:t>Les notifications, votre pire collègue, imaginez un collègue toutes les 5 minutes, qui vous direz : </a:t>
            </a:r>
            <a:r>
              <a:rPr lang="fr-FR" sz="1600" b="1" dirty="0"/>
              <a:t>« Tiens regarde, tu as reçu un truc … »</a:t>
            </a:r>
          </a:p>
          <a:p>
            <a:endParaRPr lang="fr-FR" sz="1600" dirty="0"/>
          </a:p>
          <a:p>
            <a:r>
              <a:rPr lang="fr-FR" sz="1600" dirty="0">
                <a:solidFill>
                  <a:srgbClr val="0F3E9F"/>
                </a:solidFill>
              </a:rPr>
              <a:t>Si chaque mail mérite d’interrompre votre travail, alors votre travail consiste uniquement à lire des mails. </a:t>
            </a:r>
          </a:p>
        </p:txBody>
      </p:sp>
      <p:pic>
        <p:nvPicPr>
          <p:cNvPr id="5" name="Image 4">
            <a:extLst>
              <a:ext uri="{FF2B5EF4-FFF2-40B4-BE49-F238E27FC236}">
                <a16:creationId xmlns:a16="http://schemas.microsoft.com/office/drawing/2014/main" id="{D574CE7E-307E-3709-F1B1-2EFD51F60DD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96531">
            <a:off x="573897" y="1676365"/>
            <a:ext cx="2843651" cy="4018848"/>
          </a:xfrm>
          <a:prstGeom prst="rect">
            <a:avLst/>
          </a:prstGeom>
        </p:spPr>
      </p:pic>
    </p:spTree>
    <p:extLst>
      <p:ext uri="{BB962C8B-B14F-4D97-AF65-F5344CB8AC3E}">
        <p14:creationId xmlns:p14="http://schemas.microsoft.com/office/powerpoint/2010/main" val="3323271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709F2E8-3B85-D140-B6E6-C5F3FAD946A8}"/>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66B4CA81-3520-A7BA-3EB4-F23F77F22502}"/>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75586B9A-19B7-A090-9160-328066AC5CC3}"/>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D85822D4-49AF-6780-3B61-33E82A381E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3375DFC9-C9C4-8510-9071-6218AA2EFF13}"/>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F16EB2D6-AA6E-2B48-2E18-F7A9203F5109}"/>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B164CC65-03D4-D1A4-F61C-777F4414AECD}"/>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5AFC6E91-E704-D971-D9BD-F5E3D8F8698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9A33A4E7-678C-ADEC-C72A-020C742565B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67F246B1-72C8-2478-A1B6-20246C6A11A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A2D01677-DA3E-237F-0C3D-1C7FAD521A4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DD4DBD30-52CB-4BEA-8F49-897672207CB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513EFE91-6145-2FB4-F645-DCE12EA31B39}"/>
              </a:ext>
            </a:extLst>
          </p:cNvPr>
          <p:cNvSpPr txBox="1"/>
          <p:nvPr/>
        </p:nvSpPr>
        <p:spPr>
          <a:xfrm>
            <a:off x="3913632" y="1676365"/>
            <a:ext cx="7793454" cy="4339650"/>
          </a:xfrm>
          <a:prstGeom prst="rect">
            <a:avLst/>
          </a:prstGeom>
          <a:noFill/>
        </p:spPr>
        <p:txBody>
          <a:bodyPr wrap="square" rtlCol="0">
            <a:spAutoFit/>
          </a:bodyPr>
          <a:lstStyle/>
          <a:p>
            <a:r>
              <a:rPr lang="fr-FR" b="1" dirty="0"/>
              <a:t>Contrairement à ce que l’on pourrait croire, Inbox Zero, ne signifie pas avoir zéro mail. Cela signifie avoir zéro mail en attente de décision. </a:t>
            </a:r>
          </a:p>
          <a:p>
            <a:endParaRPr lang="fr-FR" sz="1600" b="1" dirty="0"/>
          </a:p>
          <a:p>
            <a:r>
              <a:rPr lang="fr-FR" sz="1600" dirty="0"/>
              <a:t>On revient à la méthode 4D : je traite, planifie, délègue, archive / supprime.</a:t>
            </a:r>
          </a:p>
          <a:p>
            <a:r>
              <a:rPr lang="fr-FR" sz="1600" dirty="0"/>
              <a:t>Votre boite de réception n’est pas un parking, on cherche à éviter :</a:t>
            </a:r>
          </a:p>
          <a:p>
            <a:pPr marL="285750" indent="-285750">
              <a:buFont typeface="Arial" panose="020B0604020202020204" pitchFamily="34" charset="0"/>
              <a:buChar char="•"/>
            </a:pPr>
            <a:r>
              <a:rPr lang="fr-FR" sz="1600" dirty="0"/>
              <a:t>2500 mails non lus</a:t>
            </a:r>
          </a:p>
          <a:p>
            <a:pPr marL="285750" indent="-285750">
              <a:buFont typeface="Arial" panose="020B0604020202020204" pitchFamily="34" charset="0"/>
              <a:buChar char="•"/>
            </a:pPr>
            <a:r>
              <a:rPr lang="fr-FR" sz="1600" dirty="0"/>
              <a:t>10 000 mails dans la boite de réception.</a:t>
            </a:r>
          </a:p>
          <a:p>
            <a:pPr marL="285750" indent="-285750">
              <a:buFont typeface="Arial" panose="020B0604020202020204" pitchFamily="34" charset="0"/>
              <a:buChar char="•"/>
            </a:pPr>
            <a:r>
              <a:rPr lang="fr-FR" sz="1600" dirty="0"/>
              <a:t>Mails importants noyés parmi des informations obsolètes.</a:t>
            </a:r>
          </a:p>
          <a:p>
            <a:pPr marL="285750" indent="-285750">
              <a:buFont typeface="Arial" panose="020B0604020202020204" pitchFamily="34" charset="0"/>
              <a:buChar char="•"/>
            </a:pPr>
            <a:endParaRPr lang="fr-FR" sz="1600" dirty="0"/>
          </a:p>
          <a:p>
            <a:r>
              <a:rPr lang="fr-FR" sz="1600" dirty="0"/>
              <a:t>Rapidement, le gain est visible :</a:t>
            </a:r>
          </a:p>
          <a:p>
            <a:pPr marL="285750" indent="-285750">
              <a:buFont typeface="Arial" panose="020B0604020202020204" pitchFamily="34" charset="0"/>
              <a:buChar char="•"/>
            </a:pPr>
            <a:r>
              <a:rPr lang="fr-FR" sz="1600" dirty="0"/>
              <a:t>Les priorités sont visibles ;</a:t>
            </a:r>
          </a:p>
          <a:p>
            <a:pPr marL="285750" indent="-285750">
              <a:buFont typeface="Arial" panose="020B0604020202020204" pitchFamily="34" charset="0"/>
              <a:buChar char="•"/>
            </a:pPr>
            <a:r>
              <a:rPr lang="fr-FR" sz="1600" dirty="0"/>
              <a:t>Les oublis diminuent ;</a:t>
            </a:r>
          </a:p>
          <a:p>
            <a:pPr marL="285750" indent="-285750">
              <a:buFont typeface="Arial" panose="020B0604020202020204" pitchFamily="34" charset="0"/>
              <a:buChar char="•"/>
            </a:pPr>
            <a:r>
              <a:rPr lang="fr-FR" sz="1600" dirty="0"/>
              <a:t>Le stress baisse ;</a:t>
            </a:r>
          </a:p>
          <a:p>
            <a:pPr marL="285750" indent="-285750">
              <a:buFont typeface="Arial" panose="020B0604020202020204" pitchFamily="34" charset="0"/>
              <a:buChar char="•"/>
            </a:pPr>
            <a:r>
              <a:rPr lang="fr-FR" sz="1600" dirty="0"/>
              <a:t>Les recherches sont plus simples.</a:t>
            </a:r>
          </a:p>
          <a:p>
            <a:pPr marL="285750" indent="-285750">
              <a:buFont typeface="Arial" panose="020B0604020202020204" pitchFamily="34" charset="0"/>
              <a:buChar char="•"/>
            </a:pPr>
            <a:endParaRPr lang="fr-FR" sz="1600" dirty="0"/>
          </a:p>
          <a:p>
            <a:r>
              <a:rPr lang="fr-FR" sz="1600" dirty="0">
                <a:solidFill>
                  <a:srgbClr val="0F3E9F"/>
                </a:solidFill>
              </a:rPr>
              <a:t>Une boite n’est pas forcément le signe d’une personne très occupée. C’est parfois simplement le signe d’une personne qui n’a pas encore pris de décision.</a:t>
            </a:r>
          </a:p>
        </p:txBody>
      </p:sp>
      <p:pic>
        <p:nvPicPr>
          <p:cNvPr id="3" name="Image 2">
            <a:extLst>
              <a:ext uri="{FF2B5EF4-FFF2-40B4-BE49-F238E27FC236}">
                <a16:creationId xmlns:a16="http://schemas.microsoft.com/office/drawing/2014/main" id="{E19575EF-023F-1452-23A4-2A59B4F48A3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71354">
            <a:off x="591843" y="1851928"/>
            <a:ext cx="2776808" cy="3924379"/>
          </a:xfrm>
          <a:prstGeom prst="rect">
            <a:avLst/>
          </a:prstGeom>
        </p:spPr>
      </p:pic>
    </p:spTree>
    <p:extLst>
      <p:ext uri="{BB962C8B-B14F-4D97-AF65-F5344CB8AC3E}">
        <p14:creationId xmlns:p14="http://schemas.microsoft.com/office/powerpoint/2010/main" val="3566030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7D9E242-35BF-7305-3168-0467509AA1D8}"/>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CE1DBCC8-B8FE-8F64-0687-1CEB46250D04}"/>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A14CD058-6011-03AD-39FA-2A1664E9BFEE}"/>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0B47554F-F228-5804-8293-5E99790A3F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095F204F-6420-148D-032D-E519BDC77576}"/>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174CDF1-81AF-CB0C-6AEE-9487B065962C}"/>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CE3D48D4-938C-FB0B-D3AD-DB36B5552CCB}"/>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C938B1F4-6001-2F40-877C-1F8A4B1934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36B1D377-C622-17F3-6A7A-502FF8E8E1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F060C574-D72D-CC50-2EBA-40B66B36389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B1BCBF94-7AEF-C27B-42C1-8F0BA8D9A7B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A84C583E-61A8-A184-68C1-DE73C217E8A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6BCE3FBF-18B7-61DB-D78D-59C79AA9EE85}"/>
              </a:ext>
            </a:extLst>
          </p:cNvPr>
          <p:cNvSpPr txBox="1"/>
          <p:nvPr/>
        </p:nvSpPr>
        <p:spPr>
          <a:xfrm>
            <a:off x="3842879" y="1731585"/>
            <a:ext cx="7793454" cy="4093428"/>
          </a:xfrm>
          <a:prstGeom prst="rect">
            <a:avLst/>
          </a:prstGeom>
          <a:noFill/>
        </p:spPr>
        <p:txBody>
          <a:bodyPr wrap="square" rtlCol="0">
            <a:spAutoFit/>
          </a:bodyPr>
          <a:lstStyle/>
          <a:p>
            <a:r>
              <a:rPr lang="fr-FR" b="1" dirty="0"/>
              <a:t>Une boîte mail pleine n’est pas seulement un problème pour son propriétaire. Elle peut devenir un problème pour toute l’organisation.</a:t>
            </a:r>
          </a:p>
          <a:p>
            <a:endParaRPr lang="fr-FR" sz="1600" b="1" dirty="0"/>
          </a:p>
          <a:p>
            <a:r>
              <a:rPr lang="fr-FR" sz="1600" dirty="0"/>
              <a:t>Ce qui se passe quand la boite est saturée :</a:t>
            </a:r>
          </a:p>
          <a:p>
            <a:pPr marL="285750" indent="-285750">
              <a:buFont typeface="Arial" panose="020B0604020202020204" pitchFamily="34" charset="0"/>
              <a:buChar char="•"/>
            </a:pPr>
            <a:r>
              <a:rPr lang="fr-FR" sz="1600" dirty="0"/>
              <a:t>Les nouveaux mails ne peuvent plus être reçus.</a:t>
            </a:r>
          </a:p>
          <a:p>
            <a:pPr marL="285750" indent="-285750">
              <a:buFont typeface="Arial" panose="020B0604020202020204" pitchFamily="34" charset="0"/>
              <a:buChar char="•"/>
            </a:pPr>
            <a:r>
              <a:rPr lang="fr-FR" sz="1600" dirty="0"/>
              <a:t>Des messages importants peuvent être rejetés.</a:t>
            </a:r>
          </a:p>
          <a:p>
            <a:pPr marL="285750" indent="-285750">
              <a:buFont typeface="Arial" panose="020B0604020202020204" pitchFamily="34" charset="0"/>
              <a:buChar char="•"/>
            </a:pPr>
            <a:r>
              <a:rPr lang="fr-FR" sz="1600" dirty="0"/>
              <a:t>Les expéditeurs reçoivent parfois un message d’erreur.</a:t>
            </a:r>
          </a:p>
          <a:p>
            <a:pPr marL="285750" indent="-285750">
              <a:buFont typeface="Arial" panose="020B0604020202020204" pitchFamily="34" charset="0"/>
              <a:buChar char="•"/>
            </a:pPr>
            <a:endParaRPr lang="fr-FR" sz="1600" dirty="0"/>
          </a:p>
          <a:p>
            <a:r>
              <a:rPr lang="fr-FR" sz="1600" dirty="0"/>
              <a:t>Un impact collectif, chaque mail conservé a un coût :</a:t>
            </a:r>
          </a:p>
          <a:p>
            <a:pPr marL="285750" indent="-285750">
              <a:buFont typeface="Arial" panose="020B0604020202020204" pitchFamily="34" charset="0"/>
              <a:buChar char="•"/>
            </a:pPr>
            <a:r>
              <a:rPr lang="fr-FR" sz="1600" dirty="0"/>
              <a:t>Stockage, Sauvegarde, Sécurisation, Archivages, Restauration éventuelle</a:t>
            </a:r>
          </a:p>
          <a:p>
            <a:endParaRPr lang="fr-FR" sz="1600" dirty="0"/>
          </a:p>
          <a:p>
            <a:r>
              <a:rPr lang="fr-FR" sz="1600" dirty="0"/>
              <a:t>Quelques chiffres :</a:t>
            </a:r>
          </a:p>
          <a:p>
            <a:pPr marL="285750" indent="-285750">
              <a:buFont typeface="Arial" panose="020B0604020202020204" pitchFamily="34" charset="0"/>
              <a:buChar char="•"/>
            </a:pPr>
            <a:r>
              <a:rPr lang="fr-FR" sz="1600" dirty="0"/>
              <a:t>4Go / utilisateur</a:t>
            </a:r>
          </a:p>
          <a:p>
            <a:pPr marL="285750" indent="-285750">
              <a:buFont typeface="Arial" panose="020B0604020202020204" pitchFamily="34" charset="0"/>
              <a:buChar char="•"/>
            </a:pPr>
            <a:endParaRPr lang="fr-FR" sz="1600" dirty="0"/>
          </a:p>
          <a:p>
            <a:r>
              <a:rPr lang="fr-FR" sz="1600" dirty="0">
                <a:solidFill>
                  <a:srgbClr val="0F3E9F"/>
                </a:solidFill>
              </a:rPr>
              <a:t>Le jour où vous découvrez que votre boîte est pleine, c’est souvent parce qu’un collègue vous demande pourquoi vous ne répondez plus à ses mails.</a:t>
            </a:r>
          </a:p>
        </p:txBody>
      </p:sp>
      <p:pic>
        <p:nvPicPr>
          <p:cNvPr id="5" name="Image 4">
            <a:extLst>
              <a:ext uri="{FF2B5EF4-FFF2-40B4-BE49-F238E27FC236}">
                <a16:creationId xmlns:a16="http://schemas.microsoft.com/office/drawing/2014/main" id="{DCC60E52-1F56-749F-1D87-BFB1DBB57A8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75899">
            <a:off x="555667" y="1882290"/>
            <a:ext cx="2708562" cy="3827929"/>
          </a:xfrm>
          <a:prstGeom prst="rect">
            <a:avLst/>
          </a:prstGeom>
        </p:spPr>
      </p:pic>
      <p:sp>
        <p:nvSpPr>
          <p:cNvPr id="7" name="ZoneTexte 6">
            <a:extLst>
              <a:ext uri="{FF2B5EF4-FFF2-40B4-BE49-F238E27FC236}">
                <a16:creationId xmlns:a16="http://schemas.microsoft.com/office/drawing/2014/main" id="{0D157E4D-5F08-A17B-9DFD-E03BD72832CE}"/>
              </a:ext>
            </a:extLst>
          </p:cNvPr>
          <p:cNvSpPr txBox="1"/>
          <p:nvPr/>
        </p:nvSpPr>
        <p:spPr>
          <a:xfrm rot="220054">
            <a:off x="8765536" y="2721851"/>
            <a:ext cx="3271325" cy="584775"/>
          </a:xfrm>
          <a:prstGeom prst="rect">
            <a:avLst/>
          </a:prstGeom>
          <a:solidFill>
            <a:schemeClr val="tx2">
              <a:lumMod val="10000"/>
              <a:lumOff val="90000"/>
            </a:schemeClr>
          </a:solidFill>
          <a:ln>
            <a:solidFill>
              <a:schemeClr val="bg2">
                <a:lumMod val="75000"/>
              </a:schemeClr>
            </a:solidFill>
          </a:ln>
        </p:spPr>
        <p:txBody>
          <a:bodyPr wrap="square" rtlCol="0">
            <a:spAutoFit/>
          </a:bodyPr>
          <a:lstStyle/>
          <a:p>
            <a:r>
              <a:rPr lang="fr-FR" sz="1600" dirty="0"/>
              <a:t>Et souvent, l’utilisateur s’en rend compte qu’après plusieurs jours.</a:t>
            </a:r>
          </a:p>
        </p:txBody>
      </p:sp>
    </p:spTree>
    <p:extLst>
      <p:ext uri="{BB962C8B-B14F-4D97-AF65-F5344CB8AC3E}">
        <p14:creationId xmlns:p14="http://schemas.microsoft.com/office/powerpoint/2010/main" val="1011555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79514D5-509E-C471-904B-062CE240EF4D}"/>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75D4565E-76C3-0386-FF1B-313804176689}"/>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541CCF66-4C91-B853-CD56-E938965DE53A}"/>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F8844581-DFD0-A1FF-F9C7-4DB340CFF4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CE0C4602-92E0-3589-E1B0-E97199DEF600}"/>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689C1C9E-3D9D-D880-7430-F3441A682E0B}"/>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8C5EBEE2-9993-6222-EB8D-F23CA8F2CE06}"/>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147581AA-57F9-184B-22CD-4BE6FF453C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5271CC9D-A18B-9662-1E5A-5A0C42B17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850CAF9A-AAB8-4B47-91A0-249BAC49878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5BA01924-E53C-A53B-6BF4-330E2A160D3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F74D370E-B31A-4295-ECD2-BD5D35F9D6E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5208DF10-6B54-94B4-B62F-EF7DAFA5963B}"/>
              </a:ext>
            </a:extLst>
          </p:cNvPr>
          <p:cNvSpPr txBox="1"/>
          <p:nvPr/>
        </p:nvSpPr>
        <p:spPr>
          <a:xfrm>
            <a:off x="3842879" y="1484896"/>
            <a:ext cx="7793454" cy="4585871"/>
          </a:xfrm>
          <a:prstGeom prst="rect">
            <a:avLst/>
          </a:prstGeom>
          <a:noFill/>
        </p:spPr>
        <p:txBody>
          <a:bodyPr wrap="square" rtlCol="0">
            <a:spAutoFit/>
          </a:bodyPr>
          <a:lstStyle/>
          <a:p>
            <a:r>
              <a:rPr lang="fr-FR" b="1" dirty="0"/>
              <a:t>Le mail a été conçu pour échanger des messages. Pas pour transporter des fichiers toujours plus gros. </a:t>
            </a:r>
          </a:p>
          <a:p>
            <a:endParaRPr lang="fr-FR" sz="1600" b="1" dirty="0"/>
          </a:p>
          <a:p>
            <a:r>
              <a:rPr lang="fr-FR" sz="1600" b="1" dirty="0"/>
              <a:t>Exemple :</a:t>
            </a:r>
          </a:p>
          <a:p>
            <a:r>
              <a:rPr lang="fr-FR" sz="1600" dirty="0"/>
              <a:t>Un fichier de 10Mo envoyé à 10 personnes, ce n’est pas 10 Mo stockés.</a:t>
            </a:r>
          </a:p>
          <a:p>
            <a:r>
              <a:rPr lang="fr-FR" sz="1600" dirty="0"/>
              <a:t>C’est potentiellement :</a:t>
            </a:r>
          </a:p>
          <a:p>
            <a:pPr marL="285750" indent="-285750">
              <a:buFont typeface="Arial" panose="020B0604020202020204" pitchFamily="34" charset="0"/>
              <a:buChar char="•"/>
            </a:pPr>
            <a:r>
              <a:rPr lang="fr-FR" sz="1600" dirty="0"/>
              <a:t>10 Mo x 10 destinataires</a:t>
            </a:r>
          </a:p>
          <a:p>
            <a:pPr marL="285750" indent="-285750">
              <a:buFont typeface="Arial" panose="020B0604020202020204" pitchFamily="34" charset="0"/>
              <a:buChar char="•"/>
            </a:pPr>
            <a:r>
              <a:rPr lang="fr-FR" sz="1600" dirty="0"/>
              <a:t>+ votre copie envoyée</a:t>
            </a:r>
          </a:p>
          <a:p>
            <a:pPr marL="285750" indent="-285750">
              <a:buFont typeface="Arial" panose="020B0604020202020204" pitchFamily="34" charset="0"/>
              <a:buChar char="•"/>
            </a:pPr>
            <a:r>
              <a:rPr lang="fr-FR" sz="1600" dirty="0"/>
              <a:t>+ les sauvegardes</a:t>
            </a:r>
          </a:p>
          <a:p>
            <a:pPr marL="285750" indent="-285750">
              <a:buFont typeface="Arial" panose="020B0604020202020204" pitchFamily="34" charset="0"/>
              <a:buChar char="•"/>
            </a:pPr>
            <a:r>
              <a:rPr lang="fr-FR" sz="1600" dirty="0"/>
              <a:t>+ les transferts ultérieurs</a:t>
            </a:r>
          </a:p>
          <a:p>
            <a:pPr marL="285750" indent="-285750">
              <a:buFont typeface="Arial" panose="020B0604020202020204" pitchFamily="34" charset="0"/>
              <a:buChar char="•"/>
            </a:pPr>
            <a:endParaRPr lang="fr-FR" sz="1600" dirty="0"/>
          </a:p>
          <a:p>
            <a:r>
              <a:rPr lang="fr-FR" sz="1600" b="1" dirty="0"/>
              <a:t>La bonne pratique</a:t>
            </a:r>
            <a:r>
              <a:rPr lang="fr-FR" sz="1600" dirty="0"/>
              <a:t>, c’est de déposer le document sur un espace de stockage en ligne :</a:t>
            </a:r>
          </a:p>
          <a:p>
            <a:pPr marL="285750" indent="-285750">
              <a:buFont typeface="Arial" panose="020B0604020202020204" pitchFamily="34" charset="0"/>
              <a:buChar char="•"/>
            </a:pPr>
            <a:r>
              <a:rPr lang="fr-FR" sz="1600" dirty="0"/>
              <a:t>Interne (lecteur réseau U:\, G:\)</a:t>
            </a:r>
          </a:p>
          <a:p>
            <a:pPr marL="285750" indent="-285750">
              <a:buFont typeface="Arial" panose="020B0604020202020204" pitchFamily="34" charset="0"/>
              <a:buChar char="•"/>
            </a:pPr>
            <a:r>
              <a:rPr lang="fr-FR" sz="1600" dirty="0"/>
              <a:t>Externe (</a:t>
            </a:r>
            <a:r>
              <a:rPr lang="fr-FR" sz="1600" dirty="0" err="1"/>
              <a:t>Itransfert</a:t>
            </a:r>
            <a:r>
              <a:rPr lang="fr-FR" sz="1600" dirty="0"/>
              <a:t>)</a:t>
            </a:r>
          </a:p>
          <a:p>
            <a:r>
              <a:rPr lang="fr-FR" sz="1600" dirty="0"/>
              <a:t>Envoyez ensuite le lien aux multiples destinataires.</a:t>
            </a:r>
          </a:p>
          <a:p>
            <a:endParaRPr lang="fr-FR" sz="1600" dirty="0"/>
          </a:p>
          <a:p>
            <a:r>
              <a:rPr lang="fr-FR" sz="1600" dirty="0">
                <a:solidFill>
                  <a:srgbClr val="0F3E9F"/>
                </a:solidFill>
              </a:rPr>
              <a:t>Quand vous envoyez une pièce jointe, vous créez une copie. </a:t>
            </a:r>
            <a:br>
              <a:rPr lang="fr-FR" sz="1600" dirty="0">
                <a:solidFill>
                  <a:srgbClr val="0F3E9F"/>
                </a:solidFill>
              </a:rPr>
            </a:br>
            <a:r>
              <a:rPr lang="fr-FR" sz="1600" dirty="0">
                <a:solidFill>
                  <a:srgbClr val="0F3E9F"/>
                </a:solidFill>
              </a:rPr>
              <a:t>Quand vous envoyez un lien, vous partagez une référence.</a:t>
            </a:r>
          </a:p>
        </p:txBody>
      </p:sp>
      <p:pic>
        <p:nvPicPr>
          <p:cNvPr id="3" name="Image 2">
            <a:extLst>
              <a:ext uri="{FF2B5EF4-FFF2-40B4-BE49-F238E27FC236}">
                <a16:creationId xmlns:a16="http://schemas.microsoft.com/office/drawing/2014/main" id="{4A10D523-398F-F3F4-FB97-11AB7195DE43}"/>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49083">
            <a:off x="555667" y="1726405"/>
            <a:ext cx="2816354" cy="3980269"/>
          </a:xfrm>
          <a:prstGeom prst="rect">
            <a:avLst/>
          </a:prstGeom>
        </p:spPr>
      </p:pic>
      <p:sp>
        <p:nvSpPr>
          <p:cNvPr id="8" name="ZoneTexte 7">
            <a:extLst>
              <a:ext uri="{FF2B5EF4-FFF2-40B4-BE49-F238E27FC236}">
                <a16:creationId xmlns:a16="http://schemas.microsoft.com/office/drawing/2014/main" id="{A2B868E7-1D00-7B1D-64D9-715192FACA1C}"/>
              </a:ext>
            </a:extLst>
          </p:cNvPr>
          <p:cNvSpPr txBox="1"/>
          <p:nvPr/>
        </p:nvSpPr>
        <p:spPr>
          <a:xfrm rot="220054">
            <a:off x="7412617" y="3138207"/>
            <a:ext cx="3399182" cy="581588"/>
          </a:xfrm>
          <a:prstGeom prst="rect">
            <a:avLst/>
          </a:prstGeom>
          <a:solidFill>
            <a:schemeClr val="tx2">
              <a:lumMod val="10000"/>
              <a:lumOff val="90000"/>
            </a:schemeClr>
          </a:solidFill>
          <a:ln>
            <a:solidFill>
              <a:schemeClr val="bg2">
                <a:lumMod val="75000"/>
              </a:schemeClr>
            </a:solidFill>
          </a:ln>
        </p:spPr>
        <p:txBody>
          <a:bodyPr wrap="square" rtlCol="0">
            <a:spAutoFit/>
          </a:bodyPr>
          <a:lstStyle/>
          <a:p>
            <a:r>
              <a:rPr lang="fr-FR" sz="1600" dirty="0"/>
              <a:t>Au final, un seul document peut-être dupliqué des dizaines de fois.</a:t>
            </a:r>
          </a:p>
        </p:txBody>
      </p:sp>
    </p:spTree>
    <p:extLst>
      <p:ext uri="{BB962C8B-B14F-4D97-AF65-F5344CB8AC3E}">
        <p14:creationId xmlns:p14="http://schemas.microsoft.com/office/powerpoint/2010/main" val="3245316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C88B11C-21CD-82F7-E520-A8E500E13C11}"/>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4B06CA32-FD2B-E534-54D6-531583810962}"/>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6628B320-EC43-B0BC-1082-20492FF62DB6}"/>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B2E04637-ABE0-E400-D95D-94AEBEFA9C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74E48054-0C4F-C713-1D36-D1315B77C0A1}"/>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4833752A-EB63-DD8A-A055-2278BAF66F85}"/>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2EC13EEE-CB80-A5E3-72F9-C8B9F233D467}"/>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A15E090C-F414-F0F5-FAA0-61C2BF8E64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60946859-1DA0-1157-397A-E9FA034AE7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FB103152-C676-BAC3-DDA2-C5F02536EF3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C4FACEF1-8A2A-20A5-82DB-47EA2C607B2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FEAE0090-C8D3-24B8-F385-BD342095FDC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D63723FA-DE8F-A01D-C690-E677A3947F2F}"/>
              </a:ext>
            </a:extLst>
          </p:cNvPr>
          <p:cNvSpPr txBox="1"/>
          <p:nvPr/>
        </p:nvSpPr>
        <p:spPr>
          <a:xfrm>
            <a:off x="3842879" y="1544680"/>
            <a:ext cx="7793454" cy="4401205"/>
          </a:xfrm>
          <a:prstGeom prst="rect">
            <a:avLst/>
          </a:prstGeom>
          <a:noFill/>
        </p:spPr>
        <p:txBody>
          <a:bodyPr wrap="square" rtlCol="0">
            <a:spAutoFit/>
          </a:bodyPr>
          <a:lstStyle/>
          <a:p>
            <a:r>
              <a:rPr lang="fr-FR" b="1" dirty="0"/>
              <a:t>Quand une boite mail grossit, une solution consiste à archiver les anciens messages dans un fichier PST. Le PST permet d’alléger la boîte de messagerie tout en conservant l’accès à ses anciens mails.</a:t>
            </a:r>
          </a:p>
          <a:p>
            <a:endParaRPr lang="fr-FR" b="1" dirty="0"/>
          </a:p>
          <a:p>
            <a:r>
              <a:rPr lang="fr-FR" sz="1600" dirty="0"/>
              <a:t>Un PST est un fichier Outlook qui contient :</a:t>
            </a:r>
          </a:p>
          <a:p>
            <a:pPr marL="285750" indent="-285750">
              <a:buFont typeface="Arial" panose="020B0604020202020204" pitchFamily="34" charset="0"/>
              <a:buChar char="•"/>
            </a:pPr>
            <a:r>
              <a:rPr lang="fr-FR" sz="1600" dirty="0"/>
              <a:t>Mails, Calendriers, Contacts</a:t>
            </a:r>
          </a:p>
          <a:p>
            <a:r>
              <a:rPr lang="fr-FR" sz="1600" dirty="0"/>
              <a:t>Il est stocké en dehors de la boite mail principale.</a:t>
            </a:r>
          </a:p>
          <a:p>
            <a:endParaRPr lang="fr-FR" sz="1600" dirty="0"/>
          </a:p>
          <a:p>
            <a:r>
              <a:rPr lang="fr-FR" sz="1600" dirty="0"/>
              <a:t>La bonne pratique consiste à mettre votre PST sur U si cela concerne le service et sur X si c’est une archive personnelle.</a:t>
            </a:r>
          </a:p>
          <a:p>
            <a:pPr marL="285750" indent="-285750">
              <a:buFont typeface="Arial" panose="020B0604020202020204" pitchFamily="34" charset="0"/>
              <a:buChar char="•"/>
            </a:pPr>
            <a:r>
              <a:rPr lang="fr-FR" sz="1600" dirty="0"/>
              <a:t>Sauvegarde assurée</a:t>
            </a:r>
          </a:p>
          <a:p>
            <a:pPr marL="285750" indent="-285750">
              <a:buFont typeface="Arial" panose="020B0604020202020204" pitchFamily="34" charset="0"/>
              <a:buChar char="•"/>
            </a:pPr>
            <a:r>
              <a:rPr lang="fr-FR" sz="1600" dirty="0"/>
              <a:t>Restauration possible</a:t>
            </a:r>
          </a:p>
          <a:p>
            <a:pPr marL="285750" indent="-285750">
              <a:buFont typeface="Arial" panose="020B0604020202020204" pitchFamily="34" charset="0"/>
              <a:buChar char="•"/>
            </a:pPr>
            <a:r>
              <a:rPr lang="fr-FR" sz="1600" dirty="0"/>
              <a:t>Continuité de service améliorée.</a:t>
            </a:r>
          </a:p>
          <a:p>
            <a:endParaRPr lang="fr-FR" sz="1600" dirty="0"/>
          </a:p>
          <a:p>
            <a:r>
              <a:rPr lang="fr-FR" sz="1600" dirty="0">
                <a:solidFill>
                  <a:srgbClr val="0F3E9F"/>
                </a:solidFill>
              </a:rPr>
              <a:t>Un PST sur votre disque dur, c’est un peu comme ranger les archives du Département dans le coffre de votre voiture. Tant que tout va bien, ça fonctionne … jusqu’au jour où ça ne fonctionne plus !</a:t>
            </a:r>
          </a:p>
        </p:txBody>
      </p:sp>
      <p:pic>
        <p:nvPicPr>
          <p:cNvPr id="7" name="Image 6">
            <a:extLst>
              <a:ext uri="{FF2B5EF4-FFF2-40B4-BE49-F238E27FC236}">
                <a16:creationId xmlns:a16="http://schemas.microsoft.com/office/drawing/2014/main" id="{7C4B6A82-ABCE-88A0-B80E-F14E104E24A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59852">
            <a:off x="555667" y="1784075"/>
            <a:ext cx="2903016" cy="4102745"/>
          </a:xfrm>
          <a:prstGeom prst="rect">
            <a:avLst/>
          </a:prstGeom>
        </p:spPr>
      </p:pic>
    </p:spTree>
    <p:extLst>
      <p:ext uri="{BB962C8B-B14F-4D97-AF65-F5344CB8AC3E}">
        <p14:creationId xmlns:p14="http://schemas.microsoft.com/office/powerpoint/2010/main" val="786945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FD9D526-F51C-AC3D-A116-F4AC65B67598}"/>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6EF8E9B6-4234-264B-2F7F-234F6CD28121}"/>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27A0119A-A9B6-ADB4-32BC-810CA8BFF6FB}"/>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3DDA34A7-1AAB-D549-2347-ABE315B103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DCA6D730-C1F5-4A66-CC72-E8DFCB0E7406}"/>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266EF70-4ADB-5AAE-B2CA-CBA5A93FCBC2}"/>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5CCFC00E-FE1E-AF03-2F9C-B68B05F0ACEF}"/>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D1DBCE68-E408-B94D-62DE-AE1A53DAAF0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2DE3C7D0-A234-1999-EFE4-CE8C073CED8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17444902-51B0-0545-3A3B-8088CA5E553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1EE33C26-7692-A940-6D63-0476225FEB0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8EC024D3-48A4-D4DA-CDD2-EC5E605A056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703E6C6D-0725-43E7-D6CF-388F5DA9D53C}"/>
              </a:ext>
            </a:extLst>
          </p:cNvPr>
          <p:cNvSpPr txBox="1"/>
          <p:nvPr/>
        </p:nvSpPr>
        <p:spPr>
          <a:xfrm>
            <a:off x="4060418" y="1474245"/>
            <a:ext cx="7557573" cy="4401205"/>
          </a:xfrm>
          <a:prstGeom prst="rect">
            <a:avLst/>
          </a:prstGeom>
          <a:noFill/>
        </p:spPr>
        <p:txBody>
          <a:bodyPr wrap="square" rtlCol="0">
            <a:spAutoFit/>
          </a:bodyPr>
          <a:lstStyle/>
          <a:p>
            <a:r>
              <a:rPr lang="fr-FR" b="1" dirty="0"/>
              <a:t>La clé USB est pratique pour transporter des fichiers. Mais elle est rarement une bonne solution pour archiver des données professionnelles. Ce qui est pratique n’est pas forcément sécurisé.</a:t>
            </a:r>
          </a:p>
          <a:p>
            <a:endParaRPr lang="fr-FR" b="1" dirty="0"/>
          </a:p>
          <a:p>
            <a:pPr marL="285750" indent="-285750">
              <a:buFont typeface="Arial" panose="020B0604020202020204" pitchFamily="34" charset="0"/>
              <a:buChar char="•"/>
            </a:pPr>
            <a:r>
              <a:rPr lang="fr-FR" sz="1600" dirty="0"/>
              <a:t>Personne ne chiffre sa clé USB</a:t>
            </a:r>
          </a:p>
          <a:p>
            <a:pPr marL="285750" indent="-285750">
              <a:buFont typeface="Arial" panose="020B0604020202020204" pitchFamily="34" charset="0"/>
              <a:buChar char="•"/>
            </a:pPr>
            <a:r>
              <a:rPr lang="fr-FR" sz="1600" dirty="0"/>
              <a:t>On perd plus facilement un petit objet, comme une clé USB</a:t>
            </a:r>
          </a:p>
          <a:p>
            <a:pPr marL="285750" indent="-285750">
              <a:buFont typeface="Arial" panose="020B0604020202020204" pitchFamily="34" charset="0"/>
              <a:buChar char="•"/>
            </a:pPr>
            <a:r>
              <a:rPr lang="fr-FR" sz="1600" dirty="0"/>
              <a:t>On branche, débranche … parfois ça casse !</a:t>
            </a:r>
          </a:p>
          <a:p>
            <a:pPr marL="285750" indent="-285750">
              <a:buFont typeface="Arial" panose="020B0604020202020204" pitchFamily="34" charset="0"/>
              <a:buChar char="•"/>
            </a:pPr>
            <a:r>
              <a:rPr lang="fr-FR" sz="1600" dirty="0"/>
              <a:t>On n’a aucune idée précise de l’ensemble des données qu’il y a dessus.</a:t>
            </a:r>
          </a:p>
          <a:p>
            <a:endParaRPr lang="fr-FR" sz="1600" dirty="0"/>
          </a:p>
          <a:p>
            <a:r>
              <a:rPr lang="fr-FR" sz="1600" dirty="0"/>
              <a:t>La bonne pratique consiste à mettre votre PST sur U:\ si cela concerne le service et sur X:\ (4Go) si c’est une archive personnelle.</a:t>
            </a:r>
          </a:p>
          <a:p>
            <a:pPr marL="285750" indent="-285750">
              <a:buFont typeface="Arial" panose="020B0604020202020204" pitchFamily="34" charset="0"/>
              <a:buChar char="•"/>
            </a:pPr>
            <a:r>
              <a:rPr lang="fr-FR" sz="1600" dirty="0"/>
              <a:t>Sauvegarde assurée</a:t>
            </a:r>
          </a:p>
          <a:p>
            <a:pPr marL="285750" indent="-285750">
              <a:buFont typeface="Arial" panose="020B0604020202020204" pitchFamily="34" charset="0"/>
              <a:buChar char="•"/>
            </a:pPr>
            <a:r>
              <a:rPr lang="fr-FR" sz="1600" dirty="0"/>
              <a:t>Restauration possible</a:t>
            </a:r>
          </a:p>
          <a:p>
            <a:pPr marL="285750" indent="-285750">
              <a:buFont typeface="Arial" panose="020B0604020202020204" pitchFamily="34" charset="0"/>
              <a:buChar char="•"/>
            </a:pPr>
            <a:r>
              <a:rPr lang="fr-FR" sz="1600" dirty="0"/>
              <a:t>Continuité de service améliorée.</a:t>
            </a:r>
          </a:p>
          <a:p>
            <a:endParaRPr lang="fr-FR" sz="1600" dirty="0"/>
          </a:p>
          <a:p>
            <a:r>
              <a:rPr lang="fr-FR" sz="1600" dirty="0">
                <a:solidFill>
                  <a:srgbClr val="0F3E9F"/>
                </a:solidFill>
              </a:rPr>
              <a:t>Si votre clé USB disparait demain, vos documents doivent pouvoir continuer à vivre sans elle.</a:t>
            </a:r>
          </a:p>
        </p:txBody>
      </p:sp>
      <p:pic>
        <p:nvPicPr>
          <p:cNvPr id="3" name="Image 2">
            <a:extLst>
              <a:ext uri="{FF2B5EF4-FFF2-40B4-BE49-F238E27FC236}">
                <a16:creationId xmlns:a16="http://schemas.microsoft.com/office/drawing/2014/main" id="{44C00FBB-335F-5A2E-3391-FBA38A2AA96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60692">
            <a:off x="683312" y="1793342"/>
            <a:ext cx="2662627" cy="3763011"/>
          </a:xfrm>
          <a:prstGeom prst="rect">
            <a:avLst/>
          </a:prstGeom>
        </p:spPr>
      </p:pic>
    </p:spTree>
    <p:extLst>
      <p:ext uri="{BB962C8B-B14F-4D97-AF65-F5344CB8AC3E}">
        <p14:creationId xmlns:p14="http://schemas.microsoft.com/office/powerpoint/2010/main" val="2433707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AA5C391-59B2-EF79-2126-E9D6DF43DDA4}"/>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32E62DAE-C965-FCF8-8AC8-34351262D0B8}"/>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1ED17F04-9032-AF34-A841-4AE2014325DB}"/>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D9CF5409-B8EA-BC61-749A-5FE0BA0B77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2D8DFFBA-E1CF-5AE6-04B9-21AEFC52F3D2}"/>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DC6475F-BC18-AB6A-8B25-82067B750B32}"/>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64F7D487-C89B-1282-DAE2-11E7C966ECBB}"/>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6CACD04A-2728-0CBC-F160-7A7CE6FA9B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0BDA242D-D009-D978-87EA-56AF2FB2D4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9007E12E-AE75-FE12-4FC1-CB22CF15D37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0427A720-2006-FE58-FC2F-618A64FDA45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2A7DA654-624D-A67C-C9C0-1CD8B86A5C2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5C3F1AEB-3E5F-D07D-C696-F4976947426E}"/>
              </a:ext>
            </a:extLst>
          </p:cNvPr>
          <p:cNvSpPr txBox="1"/>
          <p:nvPr/>
        </p:nvSpPr>
        <p:spPr>
          <a:xfrm>
            <a:off x="4873698" y="1638798"/>
            <a:ext cx="6744293" cy="4216539"/>
          </a:xfrm>
          <a:prstGeom prst="rect">
            <a:avLst/>
          </a:prstGeom>
          <a:noFill/>
        </p:spPr>
        <p:txBody>
          <a:bodyPr wrap="square" rtlCol="0">
            <a:spAutoFit/>
          </a:bodyPr>
          <a:lstStyle/>
          <a:p>
            <a:r>
              <a:rPr lang="fr-FR" b="1" dirty="0"/>
              <a:t>Certains mails peuvent avoir une valeur juridique, administrative ou financière pendant plusieurs années.</a:t>
            </a:r>
          </a:p>
          <a:p>
            <a:endParaRPr lang="fr-FR" b="1" dirty="0"/>
          </a:p>
          <a:p>
            <a:r>
              <a:rPr lang="fr-FR" sz="1600" b="1" dirty="0"/>
              <a:t>L’enjeu n’est donc pas de tout conserver.</a:t>
            </a:r>
          </a:p>
          <a:p>
            <a:r>
              <a:rPr lang="fr-FR" sz="1600" b="1" dirty="0"/>
              <a:t>L’enjeu est de conserver ce qui doit l’être… et uniquement cela.</a:t>
            </a:r>
          </a:p>
          <a:p>
            <a:endParaRPr lang="fr-FR" b="1" dirty="0"/>
          </a:p>
          <a:p>
            <a:r>
              <a:rPr lang="fr-FR" sz="1600" dirty="0"/>
              <a:t>LE RGPD repose sur un principe simple :</a:t>
            </a:r>
          </a:p>
          <a:p>
            <a:pPr marL="285750" indent="-285750">
              <a:buFont typeface="Arial" panose="020B0604020202020204" pitchFamily="34" charset="0"/>
              <a:buChar char="•"/>
            </a:pPr>
            <a:r>
              <a:rPr lang="fr-FR" sz="1600" dirty="0"/>
              <a:t>Ne conserver les données personnelles que le temps nécessaire.</a:t>
            </a:r>
          </a:p>
          <a:p>
            <a:pPr marL="285750" indent="-285750">
              <a:buFont typeface="Arial" panose="020B0604020202020204" pitchFamily="34" charset="0"/>
              <a:buChar char="•"/>
            </a:pPr>
            <a:endParaRPr lang="fr-FR" sz="1600" dirty="0"/>
          </a:p>
          <a:p>
            <a:r>
              <a:rPr lang="fr-FR" sz="1600" dirty="0"/>
              <a:t>Le bon réflexe, à la fin d’un dossier :</a:t>
            </a:r>
          </a:p>
          <a:p>
            <a:pPr marL="285750" indent="-285750">
              <a:buFont typeface="Arial" panose="020B0604020202020204" pitchFamily="34" charset="0"/>
              <a:buChar char="•"/>
            </a:pPr>
            <a:r>
              <a:rPr lang="fr-FR" sz="1600" dirty="0"/>
              <a:t>Je conserve ce qui doit l’être.</a:t>
            </a:r>
          </a:p>
          <a:p>
            <a:pPr marL="285750" indent="-285750">
              <a:buFont typeface="Arial" panose="020B0604020202020204" pitchFamily="34" charset="0"/>
              <a:buChar char="•"/>
            </a:pPr>
            <a:r>
              <a:rPr lang="fr-FR" sz="1600" dirty="0"/>
              <a:t>Je supprime ce qui n’a plus d’utilité.</a:t>
            </a:r>
          </a:p>
          <a:p>
            <a:pPr marL="285750" indent="-285750">
              <a:buFont typeface="Arial" panose="020B0604020202020204" pitchFamily="34" charset="0"/>
              <a:buChar char="•"/>
            </a:pPr>
            <a:r>
              <a:rPr lang="fr-FR" sz="1600" dirty="0"/>
              <a:t>J’archive dans l’outil prévu pour cela, pas dans ma boite de réception.</a:t>
            </a:r>
          </a:p>
          <a:p>
            <a:endParaRPr lang="fr-FR" sz="1600" dirty="0"/>
          </a:p>
          <a:p>
            <a:r>
              <a:rPr lang="fr-FR" sz="1600" dirty="0">
                <a:solidFill>
                  <a:srgbClr val="0F3E9F"/>
                </a:solidFill>
              </a:rPr>
              <a:t>Le problème n’est pas seulement de supprimer tôt. Le problème est aussi de conserver trop longtemps.</a:t>
            </a:r>
          </a:p>
        </p:txBody>
      </p:sp>
      <p:pic>
        <p:nvPicPr>
          <p:cNvPr id="5" name="Image 4">
            <a:extLst>
              <a:ext uri="{FF2B5EF4-FFF2-40B4-BE49-F238E27FC236}">
                <a16:creationId xmlns:a16="http://schemas.microsoft.com/office/drawing/2014/main" id="{2F444CB8-321A-BB44-8AF0-B6998818F9F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423327">
            <a:off x="970084" y="1558795"/>
            <a:ext cx="3062420" cy="4328026"/>
          </a:xfrm>
          <a:prstGeom prst="rect">
            <a:avLst/>
          </a:prstGeom>
        </p:spPr>
      </p:pic>
    </p:spTree>
    <p:extLst>
      <p:ext uri="{BB962C8B-B14F-4D97-AF65-F5344CB8AC3E}">
        <p14:creationId xmlns:p14="http://schemas.microsoft.com/office/powerpoint/2010/main" val="3773467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2EC589D-2CD2-016D-64AC-C2B2F80A8E7D}"/>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42A3B75E-CEC9-C242-1D98-E07AE83A729D}"/>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F708D99B-3DD8-81AD-0D01-187E2CA17F08}"/>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FC46EFC3-7174-C5FC-66F0-527165AD6C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64777614-074F-C72B-8678-99520FB99204}"/>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86C2D261-C56E-D03D-99A5-0C124758806C}"/>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B5298E6E-6DC8-ED3C-FCED-5C1F37122BEF}"/>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49EC3205-C1EA-0FDC-A169-4E061CA409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F51C653A-1334-D51F-7BD6-0CA19414D6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DD328E12-3E48-8BD8-5E7F-3138D76D00E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E465A3E5-B686-64E6-0F84-43AB0E6E8DB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220800C5-EFD0-86AC-B161-1D70847703F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146B8ACC-55C2-C3E1-6C4B-9B452652D950}"/>
              </a:ext>
            </a:extLst>
          </p:cNvPr>
          <p:cNvSpPr txBox="1"/>
          <p:nvPr/>
        </p:nvSpPr>
        <p:spPr>
          <a:xfrm>
            <a:off x="4446311" y="1585871"/>
            <a:ext cx="7174007" cy="4185761"/>
          </a:xfrm>
          <a:prstGeom prst="rect">
            <a:avLst/>
          </a:prstGeom>
          <a:noFill/>
        </p:spPr>
        <p:txBody>
          <a:bodyPr wrap="square" rtlCol="0">
            <a:spAutoFit/>
          </a:bodyPr>
          <a:lstStyle/>
          <a:p>
            <a:r>
              <a:rPr lang="fr-FR" b="1" dirty="0"/>
              <a:t>Le phishing n’attaque pas votre ordinateur. Il attaque votre confiance. Les cybercriminels savent que nous sommes pressés, sollicités et habitués à recevoir des dizaines de mails par jour. Ils cherchent donc à vous faire agir avant de réfléchir.</a:t>
            </a:r>
            <a:endParaRPr lang="fr-FR" sz="1600" b="1" dirty="0"/>
          </a:p>
          <a:p>
            <a:endParaRPr lang="fr-FR" b="1" dirty="0"/>
          </a:p>
          <a:p>
            <a:r>
              <a:rPr lang="fr-FR" sz="1600" dirty="0"/>
              <a:t>A quoi ressemble un phishing ?</a:t>
            </a:r>
          </a:p>
          <a:p>
            <a:r>
              <a:rPr lang="fr-FR" sz="1600" dirty="0"/>
              <a:t>Un mail peut sembler provenir :</a:t>
            </a:r>
          </a:p>
          <a:p>
            <a:pPr marL="285750" indent="-285750">
              <a:buFont typeface="Arial" panose="020B0604020202020204" pitchFamily="34" charset="0"/>
              <a:buChar char="•"/>
            </a:pPr>
            <a:r>
              <a:rPr lang="fr-FR" sz="1600" dirty="0"/>
              <a:t>De votre directeur, d’une banque, du support informatique, d’un fournisseur, d’un collègue.</a:t>
            </a:r>
          </a:p>
          <a:p>
            <a:pPr marL="285750" indent="-285750">
              <a:buFont typeface="Arial" panose="020B0604020202020204" pitchFamily="34" charset="0"/>
              <a:buChar char="•"/>
            </a:pPr>
            <a:endParaRPr lang="fr-FR" sz="1600" dirty="0"/>
          </a:p>
          <a:p>
            <a:r>
              <a:rPr lang="fr-FR" sz="1600" dirty="0"/>
              <a:t>Visuellement, tout paraît normal. Mais en regardant de plus près, quelque chose cloche … Un doute ? N’ouvrez pas la pièce jointe, ne cliquez pas sur le lien, contactez l’expéditeur par un autre moyen.</a:t>
            </a:r>
          </a:p>
          <a:p>
            <a:endParaRPr lang="fr-FR" sz="1600" dirty="0"/>
          </a:p>
          <a:p>
            <a:r>
              <a:rPr lang="fr-FR" sz="1600" dirty="0">
                <a:solidFill>
                  <a:srgbClr val="0F3E9F"/>
                </a:solidFill>
              </a:rPr>
              <a:t>Si un mail vous demande d’agir immédiatement, prenez justement quelques secondes de plus pour réfléchir.</a:t>
            </a:r>
          </a:p>
        </p:txBody>
      </p:sp>
      <p:pic>
        <p:nvPicPr>
          <p:cNvPr id="3" name="Image 2">
            <a:extLst>
              <a:ext uri="{FF2B5EF4-FFF2-40B4-BE49-F238E27FC236}">
                <a16:creationId xmlns:a16="http://schemas.microsoft.com/office/drawing/2014/main" id="{CE7ED998-5172-3C80-9336-BE2B9A1B1C6B}"/>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rot="21391192">
            <a:off x="798497" y="1607884"/>
            <a:ext cx="3005407" cy="4247453"/>
          </a:xfrm>
          <a:prstGeom prst="rect">
            <a:avLst/>
          </a:prstGeom>
        </p:spPr>
      </p:pic>
    </p:spTree>
    <p:extLst>
      <p:ext uri="{BB962C8B-B14F-4D97-AF65-F5344CB8AC3E}">
        <p14:creationId xmlns:p14="http://schemas.microsoft.com/office/powerpoint/2010/main" val="224104623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357</TotalTime>
  <Words>3306</Words>
  <Application>Microsoft Office PowerPoint</Application>
  <PresentationFormat>Grand écran</PresentationFormat>
  <Paragraphs>350</Paragraphs>
  <Slides>21</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21</vt:i4>
      </vt:variant>
    </vt:vector>
  </HeadingPairs>
  <TitlesOfParts>
    <vt:vector size="28" baseType="lpstr">
      <vt:lpstr>Aptos</vt:lpstr>
      <vt:lpstr>Aptos Display</vt:lpstr>
      <vt:lpstr>Arial</vt:lpstr>
      <vt:lpstr>Baloo 2</vt:lpstr>
      <vt:lpstr>Baloo 2 ExtraBold</vt:lpstr>
      <vt:lpstr>Baloo 2 Medium</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Guillaume Chaix</dc:creator>
  <cp:lastModifiedBy>Chaix Guillaume</cp:lastModifiedBy>
  <cp:revision>29</cp:revision>
  <dcterms:created xsi:type="dcterms:W3CDTF">2026-06-14T15:52:29Z</dcterms:created>
  <dcterms:modified xsi:type="dcterms:W3CDTF">2026-06-16T16:16:14Z</dcterms:modified>
</cp:coreProperties>
</file>