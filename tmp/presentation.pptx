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5F3"/>
    <a:srgbClr val="0F49AA"/>
    <a:srgbClr val="0F3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980C066-6DBD-4D87-9773-0168CEA4BDDA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A4B4955-3748-4DC7-913E-F5894948E2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92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4676-413C-F931-AF4D-CB594445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DB29B41-250D-1FD6-F841-2626EAF6C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1BFC38-A19A-0865-2904-BCFD56D56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A8A246-C82D-CA12-427B-FE2B3E55E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760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45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F9D4-8139-014E-27FA-6603499E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A16064-9E82-DF93-8EA7-FFDC5CB5A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0F95E9-7F3F-73D3-CE81-A2FEF0C09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FFA7DE-50E4-FB54-8E43-545D5EBF4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935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E7A0-9A64-7A79-9880-8620C609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824975-4BBA-C390-2AEF-E071389CF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402910-8EB5-C77B-37F2-A74DA2B37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F91F29-94A3-0789-3CCF-4D8088360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4587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1374B-564B-3823-328F-628F6432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15DF83-21FE-D311-CC58-306CBC8BA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31D7F0-5F9E-7BA1-D79D-640C3D192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824785-2508-EFCB-A854-854A6BB66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76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CB983-5D2C-CBC2-3BF7-D2B2E9DD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79AC8B-A6A2-4255-B9DF-AED01D7B9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35538A-1508-D248-8016-50B59B60E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5C8752-4148-7BAA-EF42-0647EF574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267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6345-DDE8-0FCE-05FE-C9C83C06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BCFAE4-03DC-A37C-AF21-E0AEE45B7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EB728C-E93C-15BD-16ED-C4DFBC911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46CB51-C260-BDD6-D6A9-A818C37A9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162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F71F-B2E3-406A-44BA-F009A422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778CEE5-EC46-C2BB-602D-3A6120A4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7FE652E-5923-6833-BED9-1B6FC7C99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AD8DC3-D950-3D24-4728-DC2189F43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2982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3172-3D36-149E-9566-A0CF1A7B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304BE5-EBA8-D2AD-FA82-41BB25FD5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A38000-AD09-7BC9-2C6E-E1D781C41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73978D-9A40-24CD-854F-723FB8BFB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574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08C5D-31EB-62C3-5F00-2CF9C8F6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6B30EB-89CC-59E4-E98F-4F2368639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F246BEC-DED8-511B-48D7-2DE966C64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C3307D-C9D9-632B-3817-15FF620FC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1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39F5-7DA6-3F32-93C4-3D158F7E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B3A3E1F-70EF-072A-562B-0A59B29DA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23F467-2154-6309-4728-CD97A1165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A96F51-6473-0A1F-F64B-C25A761EF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8864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6A49-7472-C37E-4F04-DACCDA2C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58F5F35-4C62-1111-0BA5-A05D975FD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D9BC663-52CE-E8AE-CFB4-A19A04CEB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29537A-43AE-F93F-D08D-D6834BA1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4955-3748-4DC7-913E-F5894948E20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994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B398F-9391-806A-6583-B4884F234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40B4E2-E4A2-0A3B-32DE-5E33E1A3C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AF2C9A-FA4F-7333-2FCC-F2A7AD0F0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49B136-E4FD-3822-C0A9-7A3AFF8C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4285C0-B81E-06A5-4CE5-5FA4352A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92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A618E-197E-96CE-6E7E-E2553374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679163-112D-41B2-2BE9-B56B66CB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70C3D5-7EE5-944B-3252-B6B82599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335816-EC3D-F35F-BE44-7F730EF5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449BBE-951C-DACD-4519-09FF1CF7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59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077BBF-00D3-9C22-0A57-A6A2DA69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5957B8-3B5E-0BCF-EBB9-A8CF55F77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1B8B82-F99B-7C65-F952-187AF31E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40948E-C6FF-32B8-2D02-7CF9B15DD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CE401C-9AAA-C121-D60E-6C580893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67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F9F36-B369-8B03-9BBD-19E77A47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746DDF-0F1F-3929-22D2-331BCAF2D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7BA06D-AFBD-C5DE-D536-7A0B774C8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8DE1BD-1783-5F17-2CCB-2FC88648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0C81EC-8CF7-5E31-6A9E-D1D170C8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A0EFCF-ABE8-8F7F-72D8-F7DABAD3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30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53691-45BD-EC14-89FB-14D7DA91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DBD9AC-FF83-4D1F-7D63-5B7500FEC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897E85-7EAD-6A58-2D8B-0BBC2FDB5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43011F-9414-5063-0AD1-75A855861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5BE505F-89EC-00BD-9286-1AFA91724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1E53D2B-2A20-F536-E762-04BFC618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000C6FA-D1D1-82A6-4341-A7FEA75B8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B071B1-E4EE-2607-12ED-C86CB4EF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55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8DCE58-C5C5-13D6-F425-F7A68C77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522D7F-5973-4E93-398D-FD5094AA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536D19-0E5F-1481-A03B-64FFA8CC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CA1FFC-9912-5A4E-AA31-E52B7D55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574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6F9C4D5-3443-A9DE-952E-0B4F1786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573476-38EB-CAE2-BA39-D5EF69C6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8D7E80-047D-EE37-A6D5-72ABB8DB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90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CF1F-2057-106A-819E-22501B91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8B7F4E-A674-6932-AC6E-20E742A6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CA77C6-6DC0-3CDC-8507-F28977E6F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97D60B-A35B-F8E3-3316-854CC764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8FCF53-DE68-172D-16D9-968DB893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66ED37-96CF-B62E-F5FF-D56F4090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8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3D6A9-42AB-1E3F-D1ED-EC58B58B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C51577-E994-3021-52C8-3DBC1D018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269BAC-7813-36D7-BA03-E1B9F2AE1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5AAFCF-3235-0AE5-199B-F46FC072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941FDB-B547-4C4A-75FD-5D2DD9A8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A30D2A-4352-FFB9-35E9-18199E9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42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BAE5C-8F8F-21B4-F4F8-A4A006F5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BAC96B-43B4-44EA-9B47-5366F7BC8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553BB9-7C27-524E-F1CF-0A4FC290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37BD0C-6A5B-0BEC-5195-3A17813E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AB2187-3379-0EF1-AFB8-840F31AF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03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2F3D2D-54DE-6751-5E40-431F99EA9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BBB29E-12F0-057C-D0C9-11AEBF720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DE6AE1-1F54-1623-54A6-0A9F6427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5676C9-0591-2198-5B40-2EA315E7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9D3BF9-2A1E-57C1-3D0E-2EA8B8BD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45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4522C5-D8D5-9765-22B9-745A4DF3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7965C0-C1FF-A070-F9AC-CF2717DA7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81CCCD-7D89-1BAF-FDB5-98E324FC0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58752-A6FA-4CD9-B01E-4AF78F1ACB1B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031C96-0BFB-C3D5-0EB9-FB27FC603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5AB77D-A3E9-61C3-6D72-7AA16C0CA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D7FE2-12A1-434A-8DAC-18CF47464E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94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2.png"/><Relationship Id="rId1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A28E9-9D8E-2AAA-D844-EE64D872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7245C887-2100-964F-1898-2825FA7412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A2BF496-CD85-C745-D53D-3D81F02F43D8}"/>
              </a:ext>
            </a:extLst>
          </p:cNvPr>
          <p:cNvSpPr txBox="1"/>
          <p:nvPr/>
        </p:nvSpPr>
        <p:spPr>
          <a:xfrm>
            <a:off x="971550" y="6362219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934D977-7F16-4F1A-33CF-15CFEB0582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51CE3A4F-EFAF-1DAF-018F-0BCED800698C}"/>
              </a:ext>
            </a:extLst>
          </p:cNvPr>
          <p:cNvSpPr txBox="1"/>
          <p:nvPr/>
        </p:nvSpPr>
        <p:spPr>
          <a:xfrm rot="20809906">
            <a:off x="706625" y="2945456"/>
            <a:ext cx="50006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SONDAGE </a:t>
            </a:r>
          </a:p>
          <a:p>
            <a:pPr algn="ctr"/>
            <a:r>
              <a:rPr lang="fr-FR" sz="66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 </a:t>
            </a:r>
            <a:r>
              <a:rPr lang="fr-FR" sz="54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10 QUIZS</a:t>
            </a:r>
            <a:endParaRPr lang="fr-FR" sz="6600" b="1" spc="-150" dirty="0">
              <a:solidFill>
                <a:srgbClr val="0F49AA"/>
              </a:solidFill>
              <a:latin typeface="Baloo 2" panose="03080502040302020200" pitchFamily="66" charset="0"/>
              <a:cs typeface="Baloo 2" panose="03080502040302020200" pitchFamily="66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CC8384-1939-E0AA-12C1-B7A6E3BCB2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1861636"/>
            <a:ext cx="5210175" cy="39076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A7C4EF1-40F8-2479-E95A-6A80505382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5966">
            <a:off x="2039159" y="3726678"/>
            <a:ext cx="2335555" cy="561214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3AAC64D0-51C0-78E7-7C50-83C79F63EA04}"/>
              </a:ext>
            </a:extLst>
          </p:cNvPr>
          <p:cNvGrpSpPr/>
          <p:nvPr/>
        </p:nvGrpSpPr>
        <p:grpSpPr>
          <a:xfrm>
            <a:off x="329143" y="281262"/>
            <a:ext cx="9970634" cy="1169763"/>
            <a:chOff x="329143" y="281262"/>
            <a:chExt cx="9970634" cy="1169763"/>
          </a:xfrm>
        </p:grpSpPr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DEA3B35-F045-5F35-1411-6CCF3D1BCEDA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E0B7B14-9A5D-A040-5637-3E87B7FA5C12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pic>
          <p:nvPicPr>
            <p:cNvPr id="29" name="Espace réservé du contenu 6">
              <a:extLst>
                <a:ext uri="{FF2B5EF4-FFF2-40B4-BE49-F238E27FC236}">
                  <a16:creationId xmlns:a16="http://schemas.microsoft.com/office/drawing/2014/main" id="{35165F60-F31D-AFC0-41F0-CABF738007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A21C6E7F-EE56-FC1C-7520-F37C71637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EF8B5D50-9949-7ADB-FEA1-369D36DFC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41C9BD3C-5730-9EE9-9479-4B6C11400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8EBF5808-0126-9CAA-817F-314E114A7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076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B3BE735C-56B2-5B35-0E7F-A3BB6D97C44C}"/>
              </a:ext>
            </a:extLst>
          </p:cNvPr>
          <p:cNvSpPr/>
          <p:nvPr/>
        </p:nvSpPr>
        <p:spPr>
          <a:xfrm rot="21293133">
            <a:off x="209661" y="3094375"/>
            <a:ext cx="7665153" cy="1491966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789679B-0A83-34CA-56E0-FBB4BE80330F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DFBCBBE-F39B-1ADB-A5C6-2AA8459F0B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0D464D74-910C-7280-709B-18C92429E6D2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94E0F746-900E-B299-14C9-038A851FE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771B341-97E6-C54F-23BA-0D38F6374EAB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1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5B2B1795-FAB0-4096-0DF4-BAB00332A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9F0F3F55-C615-4B11-3E07-33B7A6AF22DE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Trop C’est Trop !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D91224AF-3FD6-AA97-8410-759BF1794E25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80940DC-5B15-7C58-B06C-E5A92BC964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E4499C4-B0ED-6F73-4667-AAA1A6739650}"/>
              </a:ext>
            </a:extLst>
          </p:cNvPr>
          <p:cNvSpPr txBox="1"/>
          <p:nvPr/>
        </p:nvSpPr>
        <p:spPr>
          <a:xfrm>
            <a:off x="1051991" y="3334774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Votre boîte de réception contient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plus de 500 mails en ce moment ?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909F75BA-905F-E9E2-17EB-30B840E3B7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109" y="2732189"/>
            <a:ext cx="1967103" cy="236430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11A02F6D-6BB7-387F-5BF2-1EDC9BAB01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grpSp>
        <p:nvGrpSpPr>
          <p:cNvPr id="40" name="Groupe 39">
            <a:extLst>
              <a:ext uri="{FF2B5EF4-FFF2-40B4-BE49-F238E27FC236}">
                <a16:creationId xmlns:a16="http://schemas.microsoft.com/office/drawing/2014/main" id="{BCB1C134-0D59-AC72-F971-4EBF66A4932C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CD776101-67D5-51EF-2D22-C99F71428A30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BFCB0AA1-476C-17FC-1C6E-31E05FA108FF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541C39D6-0E1F-9E9E-DAC1-91B8BF880CDE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B0FB7D9B-0D25-A1E4-D8E8-C3F9A3A48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45" name="Espace réservé du contenu 6">
              <a:extLst>
                <a:ext uri="{FF2B5EF4-FFF2-40B4-BE49-F238E27FC236}">
                  <a16:creationId xmlns:a16="http://schemas.microsoft.com/office/drawing/2014/main" id="{7D7277B9-96B0-46A3-18F4-D19ADD9FCD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1D64C817-A8FE-1420-CFAA-D39953795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DCECE543-CB5D-2703-9F2D-C0C17ADA8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CE6D80E0-3979-DDA7-7F30-A8C9DE115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9" name="Image 48">
              <a:extLst>
                <a:ext uri="{FF2B5EF4-FFF2-40B4-BE49-F238E27FC236}">
                  <a16:creationId xmlns:a16="http://schemas.microsoft.com/office/drawing/2014/main" id="{2A705BB0-C292-7939-7F6F-EEEA91766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50" name="Image 49">
              <a:extLst>
                <a:ext uri="{FF2B5EF4-FFF2-40B4-BE49-F238E27FC236}">
                  <a16:creationId xmlns:a16="http://schemas.microsoft.com/office/drawing/2014/main" id="{7BB9F141-ED3B-FE44-CFDC-B822574D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2472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4CB1A-6C05-DAC9-A50A-D12CD36A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DB856631-59F8-4FC3-2C16-26F4897C4462}"/>
              </a:ext>
            </a:extLst>
          </p:cNvPr>
          <p:cNvSpPr/>
          <p:nvPr/>
        </p:nvSpPr>
        <p:spPr>
          <a:xfrm rot="316691">
            <a:off x="242831" y="3210392"/>
            <a:ext cx="7665153" cy="1837275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D77FE0-C722-A7A8-8BC5-3FAFD090B8C0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FA6EC5E-9A54-ADF9-D2A7-72EE8C4A52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C8746CEC-E07E-3203-2A5E-D87ADC43E001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25D2020B-80FC-8F19-5E5D-C6F65BD1A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2E6FCCF-1EE4-C935-A384-7D553B5FAD74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2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C449BF2B-B133-0346-DD5F-6D3125007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C64366E-E387-0290-7907-48EA8758D910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Mode Panique !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C2062C23-D4E5-DC7C-3C36-3DB6FAE73A90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5023B4D-70C9-0E6C-79D2-AF65120DA1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609B661-8BBD-B8B3-32E7-9DD7A33B2F3A}"/>
              </a:ext>
            </a:extLst>
          </p:cNvPr>
          <p:cNvSpPr txBox="1"/>
          <p:nvPr/>
        </p:nvSpPr>
        <p:spPr>
          <a:xfrm>
            <a:off x="1222710" y="3310577"/>
            <a:ext cx="63747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Quand vous recevez un mail,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le traitez immédiatement sans règle particulière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E6C36D15-13BD-8AF0-7429-ED82A7928A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2018E95-35DB-AE9D-1D86-EB967B0181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221" y="2707981"/>
            <a:ext cx="2395727" cy="2307620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0B5FA956-792F-677B-274E-76945F22561C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107D9DBA-CEE1-3882-7E1D-E76E82E42150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CD3AE604-D717-BC8E-6459-B82E82092E3B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00DB276A-1958-8AFC-1CD4-37F2E94BBA1B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DD76322D-DFC9-60B7-8C67-4D9DB97F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5" name="Espace réservé du contenu 6">
              <a:extLst>
                <a:ext uri="{FF2B5EF4-FFF2-40B4-BE49-F238E27FC236}">
                  <a16:creationId xmlns:a16="http://schemas.microsoft.com/office/drawing/2014/main" id="{5AFCD98D-A787-F511-160A-CAEB45B584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44C37B07-F251-8446-6733-FEBE06D66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B74A318F-31CA-40E7-0D54-BF5FA314A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9A6D16F0-2678-0A07-CD6F-86B8CB646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334A3535-1FE2-94A4-10FD-0A505744D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30C6A357-481C-023A-9FB5-2B0C566E9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155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41EA5-80C6-8852-B7D7-78360E71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B999830C-A7AA-691A-C7B5-87AC6D628DBA}"/>
              </a:ext>
            </a:extLst>
          </p:cNvPr>
          <p:cNvSpPr/>
          <p:nvPr/>
        </p:nvSpPr>
        <p:spPr>
          <a:xfrm rot="21203841">
            <a:off x="274674" y="3022310"/>
            <a:ext cx="7223533" cy="1867194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4C2D11-BEA9-E333-5A07-538F8BB84BF1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0DDFE1E-D0F6-4D15-E0FC-244FDA16C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42BBC650-E964-8608-B0A7-C282B2F97E74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1C267661-D72C-F647-6D50-3293A210B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FECCF87D-8E64-5EE6-417E-53793153DBDB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3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7D758C99-282B-370D-115D-8531CDC30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E3E7C2C-32C1-6ACF-489A-1BBF01694F2F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Qui Fait Quoi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2CDE1F17-3B9D-CB60-4DDE-7A0896C1BBCD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6C306C1-8286-A4FD-9A94-2904054A33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6BBF8BB-07CE-A73B-97A0-978E8F41BD2C}"/>
              </a:ext>
            </a:extLst>
          </p:cNvPr>
          <p:cNvSpPr txBox="1"/>
          <p:nvPr/>
        </p:nvSpPr>
        <p:spPr>
          <a:xfrm>
            <a:off x="1222710" y="3310577"/>
            <a:ext cx="63747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faites la différence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entre le champ A et le champ CC </a:t>
            </a:r>
          </a:p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à chaque envoi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7001CAA-0E14-A915-A4A4-68B413B7F0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0505DDC-49D6-5781-40F0-C4A9EFC8F0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221" y="2676271"/>
            <a:ext cx="2285021" cy="2285021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1D6BAF57-6CA4-D984-75B3-95B37B334629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AAED3142-DCF3-8DFF-3E8D-EC208CA38AE9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B43DF56-BABA-EB62-7D1F-D697A47355EC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0F676DF2-325C-DD8C-1BFA-55AA60148A78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18679BC5-58FC-676C-F3AD-BBC3A4452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F3B2399F-57AD-4746-F1B1-DDAB802806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C74518D9-0F2D-09C2-0ED5-EB0169C7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6B3104A6-8A44-E954-D411-DA1D5F24B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51EE3776-6E51-D14C-99C2-3973CBEA3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6A35ADE9-C863-AF04-7BB5-5D904870B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97500F01-0FAA-8D89-53FD-E91277B46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770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D7107-E3BE-8E06-44D1-DCE3228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E5195744-B0CB-653D-8CD2-2AA50A17AE2B}"/>
              </a:ext>
            </a:extLst>
          </p:cNvPr>
          <p:cNvSpPr/>
          <p:nvPr/>
        </p:nvSpPr>
        <p:spPr>
          <a:xfrm rot="560870">
            <a:off x="311566" y="3112619"/>
            <a:ext cx="7665153" cy="1502781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0678515-9839-40D9-96C9-F9C66322F31B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C26FC93-48C7-E163-CA00-27E7240114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9B6C2378-26CD-67BE-F0F7-70E0D82022B7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C16A2D62-4520-95FD-B133-2163651E2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D5CFE0E-4456-9AD3-8BB5-3C1743DC3B2C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4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70C72357-3423-AEF7-F370-BB4C0237E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9ECF3AF1-DA08-4638-CAEF-B5FFE8E36D71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Poids Lourd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82CF754E-C0FF-79F8-E378-76F546EF6D4C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DA1D4B6-84DD-498D-BB88-475F0B0818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0AF4122-B9B1-2EDE-69E2-48006B8EA7DE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envoyez encore des pièces jointes de plus de 10 Mo par mail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798E19F9-6100-4BF1-AEE3-0B8F90C841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C16414E-17F0-29C4-6DB9-536C8E2ADE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221" y="2700781"/>
            <a:ext cx="2395728" cy="2395728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D4017428-5FB1-433D-E1D1-DD3BD79A0305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29E35F0F-0713-86F5-C5E4-AF9E9A8EB5A7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9A5AC25-D56C-AA73-9209-C2CF346F2656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27B1ED39-41C1-1A77-E4F8-8CD72F720363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28F41079-A6AB-3D78-0525-6FF44E5B9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190C7576-3FFE-46A2-EA36-BF5D45076C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D9310B69-0D79-6707-86BD-54DA0F253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D18CC6F7-5DF0-8ECD-7AA7-1DBE64744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59BC6A2B-84AC-FFA1-56C9-B37915805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E0015A79-A6D6-66B5-223A-3A8893029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6598C9FE-3C00-4A67-75BE-AF5CF653C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865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6448A-3B11-72AA-179D-19643561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362B64D5-328F-28B8-26EB-C28ACF20575B}"/>
              </a:ext>
            </a:extLst>
          </p:cNvPr>
          <p:cNvSpPr/>
          <p:nvPr/>
        </p:nvSpPr>
        <p:spPr>
          <a:xfrm rot="21198992">
            <a:off x="451595" y="3126969"/>
            <a:ext cx="7082407" cy="1296940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01CDB8-DC5A-86B5-5712-2835D4F36437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8578A49-5A64-C9DF-F8BB-BCE11E7662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EA40E28F-F564-3460-6AA7-C0A26AEFB097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C8ABCDA0-44FE-4D08-9CD4-AA7E0684D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50E6CB34-F4C8-035D-4512-87F2D18B4792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5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F70ABD0-9EFB-6646-A62F-FFDA918E3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A1EE6E13-F51A-D8FD-F3AC-E8370B5E0509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Qui a vu PST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750BA6D-A2EA-C8E7-8903-C7D196B334FA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BE005D1-F67F-3037-B719-E0BAB99132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B699BB05-0776-263C-0B9C-65A3CA05AC10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savez où sont stockés vos fichiers d'archivage PST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BA025A82-BF25-1249-A854-13C4790E9B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29EC57-D407-A4FD-63E4-E2EB0D3773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664" y="3010483"/>
            <a:ext cx="2386860" cy="1910169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6688D8AA-610C-5D0A-1620-7D00D01E828B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C2FF772A-F790-70E8-85C0-547CC9707443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FE93FD09-B1A2-76B4-5053-63FB55CDEEFC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CE12404-408F-8C77-194A-8C438CD5A036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6195637F-A94B-1440-79A1-53D7B934E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E829A68E-487D-93AC-E5FC-B64232474B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6D8F1FA9-D294-D7C9-E83B-050BA6FBA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377A606D-E2DE-5C49-0B02-06D2073DF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78B9F838-0E20-C6DC-B433-252E21C72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69089A7A-3CF5-F308-465C-84CC35724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2F739B1A-E1EF-AA51-F998-5FCF2FA32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417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6FA8D-0819-9019-BDD6-8BF4F932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BEEEBA96-7657-6910-2261-C9373C04CAEE}"/>
              </a:ext>
            </a:extLst>
          </p:cNvPr>
          <p:cNvSpPr/>
          <p:nvPr/>
        </p:nvSpPr>
        <p:spPr>
          <a:xfrm rot="466623">
            <a:off x="241733" y="3138996"/>
            <a:ext cx="7665153" cy="1393444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C7829-490A-EE29-2BCE-983A26C829B6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355981C-5F19-A24A-22FB-8F37F3DD33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ECEB6E8A-7F4F-3BE3-A5A0-8B9AB3C2F2FC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237D5CC7-22F8-9063-4898-FFC82B6B8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ED80C50-6BA2-6D4A-93A3-9FEA99998747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6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28CBA18-2684-3C97-58D5-E383D350C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3C30CCF9-43A5-0331-EB43-994DDF3908A6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Plan B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14B08596-8334-E9ED-AEB4-CEB4A852216C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1E38E76-0750-D63C-4B7D-B40B2D82EE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8576DCA-AC30-1289-889C-6CED439C289A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Votre message d'absence contient un contact en cas d'urgence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9D778C04-81D1-06E2-9740-2F78AE9355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AD9736A-8C9C-204C-9F7A-4FA4CAEF22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881" y="3047563"/>
            <a:ext cx="2393167" cy="191521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CEB2655B-562F-5B09-4E33-99D3F6B882CD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2A98CA8-EBF3-D2F8-CF6E-5818D7F7C17C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9BD3142-96B0-C538-A10C-CCCC65DD2853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924B8325-F8D3-E259-7D0D-9F73919A24A0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A5EED90D-CB19-23AC-29A4-256904E0B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F04E1A1C-5300-D561-F2BB-47CDA8E93E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109188A0-0CAB-22E5-2900-631DF7255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0CE94120-977D-E750-DD7C-7D89B4C3E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6C98DE00-144E-D0B0-BC14-C0743D542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D915CA62-9C37-EB1D-B6D6-99CFD6708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97D2E7AC-550C-A12E-CE0A-E3B683CFB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13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9C103-E277-0858-83C4-4FC3A530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3DADEB28-B22D-3D4E-5040-B0B3933714C0}"/>
              </a:ext>
            </a:extLst>
          </p:cNvPr>
          <p:cNvSpPr/>
          <p:nvPr/>
        </p:nvSpPr>
        <p:spPr>
          <a:xfrm rot="21257673">
            <a:off x="224086" y="3010040"/>
            <a:ext cx="7320924" cy="1524653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864B38-3384-4C82-A2C1-1347D97941C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7B2FE53-888E-7FD6-0945-79494200F5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D492B89F-BF74-2B1E-F203-D5BC2663275F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6BCD93C2-39C7-1E03-E5FD-8D5A57763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6F0791E-2076-4A58-2AC4-B63AF4078730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7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C1107D35-5B1B-9A44-2D2A-A5FB8B9D8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14F4DAC-CA76-8C93-4D10-6BD3406A59F2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Le Mail de Trop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AD597FF-B2FA-93B9-022D-1C5E22C70819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38B5395-89AE-2C04-2D0C-669590B4BB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BBDC991-A6A5-7631-3F5E-F443E9BB5BC8}"/>
              </a:ext>
            </a:extLst>
          </p:cNvPr>
          <p:cNvSpPr txBox="1"/>
          <p:nvPr/>
        </p:nvSpPr>
        <p:spPr>
          <a:xfrm>
            <a:off x="1222710" y="3310577"/>
            <a:ext cx="63747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avez déjà transmis un RIB ou un mot de passe par mail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E44A3A11-0348-A39A-AC36-CFF566A7F5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2603939-5D9A-2D85-0B0A-FB022A0986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332" y="2962416"/>
            <a:ext cx="2397669" cy="1918819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CDA13EC-69D1-44FF-E25E-6A3B50361506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B0F48228-A2A7-85CB-F2DC-FA5087D3DC1A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B5E064A-48C4-D612-266A-EC86A07C5702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483C5595-A0A6-A081-34EC-B2CDB836E588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75DCB6F8-2537-2DD8-32D1-60DC64275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F01E543F-076D-0C6E-DA17-146DEF8F9D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17D82B11-5AF8-0F4F-AC62-3A26099E8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366314B3-CE27-67F5-C90D-36C3CD36E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7B689B26-C3DF-C255-E618-726D8F8C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72093F51-64BF-FA86-A7FD-C93722A47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5C5C502E-90C6-A8FE-948B-CC33E05CE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31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D4269-18D6-31BA-B529-F11F99DA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310DC3D7-B573-44BA-0323-1EF99830B8EC}"/>
              </a:ext>
            </a:extLst>
          </p:cNvPr>
          <p:cNvSpPr/>
          <p:nvPr/>
        </p:nvSpPr>
        <p:spPr>
          <a:xfrm rot="381054">
            <a:off x="386108" y="3134666"/>
            <a:ext cx="7399395" cy="1413742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CF1512-91B8-C193-67F4-029F4FCDDC11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346E043-1FFE-7E09-7564-EE41F2BAFB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2C280DC5-4665-535A-2741-9D88C5764F95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779148FA-E5FC-CCF3-56B9-B14D42FE5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FC9FBDD-6B70-08A0-FE9E-F9E22F86C949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8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87CC98A6-B68F-F510-9336-8D31D4535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A6F5CC2-6B21-C7BE-12CA-4AFFB39F8BFE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Même le Soir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E575830-11D0-A8A7-A749-419A645A137F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813584A-6AF4-4213-992F-D5FDCA6231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5C7177C-FE90-B01E-53F8-90D3B387A2BD}"/>
              </a:ext>
            </a:extLst>
          </p:cNvPr>
          <p:cNvSpPr txBox="1"/>
          <p:nvPr/>
        </p:nvSpPr>
        <p:spPr>
          <a:xfrm>
            <a:off x="1222710" y="3310577"/>
            <a:ext cx="65020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consultez vos mails en dehors de plages horaires définies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0F32D6AA-B4E2-C645-53CE-344D69E65F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84A0206-F04A-1689-F69F-D83A2DFFC7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260" y="3007506"/>
            <a:ext cx="2357791" cy="188690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27F6107-FD31-B225-04B0-17CD28059FF5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2309B30B-24A3-CABE-633D-ADC70751B7ED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5D1FB65F-607F-5B21-34AB-8121D818E616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364A9B1D-E1A0-2136-AB31-1FE671C9C610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8BB8FF8B-66DA-DFF0-0CF9-F75922658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28" name="Espace réservé du contenu 6">
              <a:extLst>
                <a:ext uri="{FF2B5EF4-FFF2-40B4-BE49-F238E27FC236}">
                  <a16:creationId xmlns:a16="http://schemas.microsoft.com/office/drawing/2014/main" id="{4C52B514-4A7C-CCF5-CE4A-69B4930F32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C35863F-A6F7-1820-6E5E-B8C5BB2EC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8D112522-AB6C-5BD0-6523-F3AA37094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D679A9E2-5EFA-0B35-D8F6-25EFFA800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33ED46C4-AE13-6555-FF4F-1398EF137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43BCED6F-39D3-52F3-AA61-642A0323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9031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541EF-7AE4-F9E3-C43A-1DF94F18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5C635A1E-CEA6-AAD8-369C-0593F3C548CE}"/>
              </a:ext>
            </a:extLst>
          </p:cNvPr>
          <p:cNvSpPr/>
          <p:nvPr/>
        </p:nvSpPr>
        <p:spPr>
          <a:xfrm rot="21056637">
            <a:off x="223888" y="3010715"/>
            <a:ext cx="7480595" cy="1774251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B25C4F-0150-49A2-2A4D-6A47284FAA0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4ED087D-1C4F-3FEA-586C-77BC2B423D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2AE6C14E-0AAA-395F-F559-E3738D766420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A2DFF290-CA5C-12D6-5CAA-6EDADB769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E293A05-171C-AC14-0A8D-8B741EF22786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9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BADA67A-359D-5EBF-6516-1DDA91433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9A8ABDD-2877-25F8-AF13-ED9CDD5C833D}"/>
                </a:ext>
              </a:extLst>
            </p:cNvPr>
            <p:cNvSpPr txBox="1"/>
            <p:nvPr/>
          </p:nvSpPr>
          <p:spPr>
            <a:xfrm>
              <a:off x="9290304" y="2284481"/>
              <a:ext cx="18745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Archivage Éternel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C8DBE172-5FCD-2A98-F80C-AC90AF98CA97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0984CE1-921D-4316-9578-986057ABCF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B6E11117-412B-A30D-5093-CE9C5F08B155}"/>
              </a:ext>
            </a:extLst>
          </p:cNvPr>
          <p:cNvSpPr txBox="1"/>
          <p:nvPr/>
        </p:nvSpPr>
        <p:spPr>
          <a:xfrm>
            <a:off x="1222710" y="3310577"/>
            <a:ext cx="650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Vous avez une règle claire pour supprimer vos mails contenant des données personnelles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AE035C8-B506-6426-5EEE-63D528A3CA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6EB2840-304B-5AAE-8F2B-B72FD0FC89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489" y="2987234"/>
            <a:ext cx="2337460" cy="1870635"/>
          </a:xfrm>
          <a:prstGeom prst="rect">
            <a:avLst/>
          </a:prstGeom>
        </p:spPr>
      </p:pic>
      <p:grpSp>
        <p:nvGrpSpPr>
          <p:cNvPr id="34" name="Groupe 33">
            <a:extLst>
              <a:ext uri="{FF2B5EF4-FFF2-40B4-BE49-F238E27FC236}">
                <a16:creationId xmlns:a16="http://schemas.microsoft.com/office/drawing/2014/main" id="{E04269FF-6FD9-C6A0-4440-E8DABE28C497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8E304DBA-182A-44C7-2761-6DEDC8F8908D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FE537BCD-A11D-07FE-FC9B-CAEF2B8223A5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641B01E-2F74-EBB3-3C51-76DB21CCF3FB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3FE36C79-BA69-C4B6-F345-F79F0572F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41" name="Espace réservé du contenu 6">
              <a:extLst>
                <a:ext uri="{FF2B5EF4-FFF2-40B4-BE49-F238E27FC236}">
                  <a16:creationId xmlns:a16="http://schemas.microsoft.com/office/drawing/2014/main" id="{7E9EE61D-3F41-E2A1-0723-7AD80A0495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B45FA99E-22BC-FD6E-41F9-897ECAFAD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5F24754B-6E85-40EA-BD32-BD4DA6552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058A3933-3459-A8A6-8D16-7675D126A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8ADAB88B-64D3-00E4-33CC-B7231D9AA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A864FBF5-0962-62B9-A053-42BB0A1F8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8185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BF553-D79D-F5C9-21C2-36527299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llipse 44">
            <a:extLst>
              <a:ext uri="{FF2B5EF4-FFF2-40B4-BE49-F238E27FC236}">
                <a16:creationId xmlns:a16="http://schemas.microsoft.com/office/drawing/2014/main" id="{86E54FEE-6108-9553-43E3-0C486456C7BA}"/>
              </a:ext>
            </a:extLst>
          </p:cNvPr>
          <p:cNvSpPr/>
          <p:nvPr/>
        </p:nvSpPr>
        <p:spPr>
          <a:xfrm rot="380499">
            <a:off x="417665" y="3058114"/>
            <a:ext cx="7114818" cy="2022146"/>
          </a:xfrm>
          <a:prstGeom prst="ellipse">
            <a:avLst/>
          </a:prstGeom>
          <a:solidFill>
            <a:srgbClr val="DE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BCCC04-B0B6-9BA5-B6C2-E5600A00CA55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71E93BA-CBDA-5220-4D2E-F0A34AFDBE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8E6CDDE8-701F-752D-B0F5-B3CB48ADF688}"/>
              </a:ext>
            </a:extLst>
          </p:cNvPr>
          <p:cNvGrpSpPr/>
          <p:nvPr/>
        </p:nvGrpSpPr>
        <p:grpSpPr>
          <a:xfrm>
            <a:off x="8443154" y="1870635"/>
            <a:ext cx="3417504" cy="4103835"/>
            <a:chOff x="8586029" y="1963589"/>
            <a:chExt cx="3417504" cy="4103835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3DBD4274-6E5F-CDDB-7C8E-A435C7007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029" y="1963589"/>
              <a:ext cx="3417504" cy="4103835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5AC046B-F408-930F-2F37-97374E637508}"/>
                </a:ext>
              </a:extLst>
            </p:cNvPr>
            <p:cNvSpPr txBox="1"/>
            <p:nvPr/>
          </p:nvSpPr>
          <p:spPr>
            <a:xfrm>
              <a:off x="8769096" y="5391558"/>
              <a:ext cx="2468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10 / 10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3CB73D71-4A0B-79AD-5BC4-844738262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9096" y="2188416"/>
              <a:ext cx="521208" cy="530684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9A94FF8-4915-C38C-7329-2B402B8149A2}"/>
                </a:ext>
              </a:extLst>
            </p:cNvPr>
            <p:cNvSpPr txBox="1"/>
            <p:nvPr/>
          </p:nvSpPr>
          <p:spPr>
            <a:xfrm>
              <a:off x="9290303" y="2284481"/>
              <a:ext cx="18745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kern="0" spc="-4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Pro ou Amateur ?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CEF668BD-5818-D338-DE7F-1615D22BAD04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spc="-150" dirty="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MIEUX ÉCRIRE, C’EST MIEUX TRAVAILLER ENSEMBLE.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2C9ABA9-7CD0-0565-6E6C-967420762C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D46541C-D2B9-6836-2FC0-A05F7F5B783D}"/>
              </a:ext>
            </a:extLst>
          </p:cNvPr>
          <p:cNvSpPr txBox="1"/>
          <p:nvPr/>
        </p:nvSpPr>
        <p:spPr>
          <a:xfrm>
            <a:off x="1222710" y="3310577"/>
            <a:ext cx="650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Baloo 2 Medium" panose="03080602040302020200" pitchFamily="66" charset="0"/>
                <a:cs typeface="Baloo 2 Medium" panose="03080602040302020200" pitchFamily="66" charset="0"/>
              </a:rPr>
              <a:t>Votre niveau actuel sur Outlook vous suffit-il pour travailler efficacement ?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6EB811D4-2ABA-0EA0-3B4F-207606E36F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36" y="5328583"/>
            <a:ext cx="3417504" cy="8211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EE06F7C-FA36-B058-493A-DC2ADB2CEC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222" y="3067296"/>
            <a:ext cx="2395728" cy="1917266"/>
          </a:xfrm>
          <a:prstGeom prst="rect">
            <a:avLst/>
          </a:prstGeom>
        </p:spPr>
      </p:pic>
      <p:grpSp>
        <p:nvGrpSpPr>
          <p:cNvPr id="52" name="Groupe 51">
            <a:extLst>
              <a:ext uri="{FF2B5EF4-FFF2-40B4-BE49-F238E27FC236}">
                <a16:creationId xmlns:a16="http://schemas.microsoft.com/office/drawing/2014/main" id="{E8102F49-EC1F-135A-B08B-5411A382409C}"/>
              </a:ext>
            </a:extLst>
          </p:cNvPr>
          <p:cNvGrpSpPr/>
          <p:nvPr/>
        </p:nvGrpSpPr>
        <p:grpSpPr>
          <a:xfrm>
            <a:off x="329143" y="281262"/>
            <a:ext cx="9970634" cy="2044300"/>
            <a:chOff x="329143" y="281262"/>
            <a:chExt cx="9970634" cy="2044300"/>
          </a:xfrm>
        </p:grpSpPr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58B5B47A-7DF9-3702-F1D5-5216F3739954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5554CFA6-8297-6753-0ECC-7207D1C01915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B4895018-316F-549C-0B99-80B770E84272}"/>
                </a:ext>
              </a:extLst>
            </p:cNvPr>
            <p:cNvSpPr txBox="1"/>
            <p:nvPr/>
          </p:nvSpPr>
          <p:spPr>
            <a:xfrm>
              <a:off x="1714416" y="1818801"/>
              <a:ext cx="3707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50" dirty="0">
                  <a:solidFill>
                    <a:srgbClr val="0F49AA"/>
                  </a:solidFill>
                  <a:latin typeface="Baloo 2" panose="03080502040302020200" pitchFamily="66" charset="0"/>
                  <a:cs typeface="Baloo 2" panose="03080502040302020200" pitchFamily="66" charset="0"/>
                </a:rPr>
                <a:t>SONDAGE – MISE EN JAMBE</a:t>
              </a:r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A9518382-CEC2-BE4F-286A-95C51D79E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95" y="2136504"/>
              <a:ext cx="1323392" cy="189058"/>
            </a:xfrm>
            <a:prstGeom prst="rect">
              <a:avLst/>
            </a:prstGeom>
          </p:spPr>
        </p:pic>
        <p:pic>
          <p:nvPicPr>
            <p:cNvPr id="34" name="Espace réservé du contenu 6">
              <a:extLst>
                <a:ext uri="{FF2B5EF4-FFF2-40B4-BE49-F238E27FC236}">
                  <a16:creationId xmlns:a16="http://schemas.microsoft.com/office/drawing/2014/main" id="{4C6FABF0-75BD-33E0-A146-05F300B73C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0FA44F78-1F87-133F-81D9-A2E42EAE0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0187ED57-D519-6792-899A-2AF5A97AA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ABB03EEF-7264-AF8E-FFDB-2CB35A1D9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E2799FA9-FFC8-06AF-EE05-169F5BA86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020A075D-7DD6-8BF0-2DEE-1568B8E1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2710" y="1818801"/>
              <a:ext cx="458274" cy="458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544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A8CB7-9789-92D4-04A1-B851C2D5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23A28C6-44D4-9EF9-8267-B0CB3449B55E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721BA75-57E6-881D-F5A8-3BB5251D0F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5" y="6296291"/>
            <a:ext cx="831765" cy="46641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1196D0A-9F0E-E35F-2F1C-74BB19DF09E2}"/>
              </a:ext>
            </a:extLst>
          </p:cNvPr>
          <p:cNvSpPr txBox="1"/>
          <p:nvPr/>
        </p:nvSpPr>
        <p:spPr>
          <a:xfrm>
            <a:off x="1014775" y="6378662"/>
            <a:ext cx="853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>
                <a:solidFill>
                  <a:schemeClr val="bg1"/>
                </a:solidFill>
                <a:latin typeface="Baloo 2 Medium" panose="03080602040302020200" pitchFamily="66" charset="0"/>
                <a:cs typeface="Baloo 2 Medium" panose="03080602040302020200" pitchFamily="66" charset="0"/>
              </a:rPr>
              <a:t>BONNES PRATIQUES DU MAIL : ET VOUS, VOUS FAITES COMMENT ?</a:t>
            </a:r>
            <a:endParaRPr lang="fr-FR" sz="2000" dirty="0">
              <a:solidFill>
                <a:schemeClr val="bg1"/>
              </a:solidFill>
              <a:latin typeface="Baloo 2 Medium" panose="03080602040302020200" pitchFamily="66" charset="0"/>
              <a:cs typeface="Baloo 2 Medium" panose="03080602040302020200" pitchFamily="66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5EF5FD5-F223-7806-6216-8203ECA2F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616" y="6262671"/>
            <a:ext cx="2295599" cy="50003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BDC882D-E8B3-71E3-99A2-5C468A3CB9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50" y="2080547"/>
            <a:ext cx="4778498" cy="382416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51BB5338-17CD-4861-5C52-31B9238F9002}"/>
              </a:ext>
            </a:extLst>
          </p:cNvPr>
          <p:cNvSpPr txBox="1"/>
          <p:nvPr/>
        </p:nvSpPr>
        <p:spPr>
          <a:xfrm rot="20809906">
            <a:off x="994825" y="3607906"/>
            <a:ext cx="500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spc="-150" dirty="0">
                <a:solidFill>
                  <a:srgbClr val="0F49AA"/>
                </a:solidFill>
                <a:latin typeface="Baloo 2" panose="03080502040302020200" pitchFamily="66" charset="0"/>
                <a:cs typeface="Baloo 2" panose="03080502040302020200" pitchFamily="66" charset="0"/>
              </a:rPr>
              <a:t>Sondage terminé</a:t>
            </a:r>
            <a:endParaRPr lang="fr-FR" sz="6600" b="1" spc="-150" dirty="0">
              <a:solidFill>
                <a:srgbClr val="0F49AA"/>
              </a:solidFill>
              <a:latin typeface="Baloo 2" panose="03080502040302020200" pitchFamily="66" charset="0"/>
              <a:cs typeface="Baloo 2" panose="03080502040302020200" pitchFamily="66" charset="0"/>
            </a:endParaRP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A943707E-75D5-F08F-0365-E024C3231813}"/>
              </a:ext>
            </a:extLst>
          </p:cNvPr>
          <p:cNvGrpSpPr/>
          <p:nvPr/>
        </p:nvGrpSpPr>
        <p:grpSpPr>
          <a:xfrm>
            <a:off x="329143" y="281262"/>
            <a:ext cx="9970634" cy="1169763"/>
            <a:chOff x="329143" y="281262"/>
            <a:chExt cx="9970634" cy="1169763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94EF06A5-2B1D-DF52-B12F-BDFA4CB3382B}"/>
                </a:ext>
              </a:extLst>
            </p:cNvPr>
            <p:cNvSpPr txBox="1"/>
            <p:nvPr/>
          </p:nvSpPr>
          <p:spPr>
            <a:xfrm>
              <a:off x="2742203" y="732715"/>
              <a:ext cx="7557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spc="-100" dirty="0">
                  <a:latin typeface="Baloo 2" panose="03080502040302020200" pitchFamily="66" charset="0"/>
                  <a:cs typeface="Baloo 2" panose="03080502040302020200" pitchFamily="66" charset="0"/>
                </a:rPr>
                <a:t>Le mail, c’est simple… jusqu’à ce que ça ne le soit plus !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083B513-AF99-4337-C20B-00F26B7A5A47}"/>
                </a:ext>
              </a:extLst>
            </p:cNvPr>
            <p:cNvSpPr txBox="1"/>
            <p:nvPr/>
          </p:nvSpPr>
          <p:spPr>
            <a:xfrm>
              <a:off x="2742204" y="288297"/>
              <a:ext cx="7557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rgbClr val="0F3E9F"/>
                  </a:solidFill>
                  <a:latin typeface="Baloo 2 ExtraBold" panose="03080902040302020200" pitchFamily="66" charset="0"/>
                  <a:cs typeface="Baloo 2 ExtraBold" panose="03080902040302020200" pitchFamily="66" charset="0"/>
                </a:rPr>
                <a:t>LES BONNES PRATIQUES DU MAIL</a:t>
              </a:r>
            </a:p>
          </p:txBody>
        </p:sp>
        <p:pic>
          <p:nvPicPr>
            <p:cNvPr id="40" name="Espace réservé du contenu 6">
              <a:extLst>
                <a:ext uri="{FF2B5EF4-FFF2-40B4-BE49-F238E27FC236}">
                  <a16:creationId xmlns:a16="http://schemas.microsoft.com/office/drawing/2014/main" id="{C4C813B9-B2E9-46D8-A300-948EEEF926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9143" y="477859"/>
              <a:ext cx="1091559" cy="468811"/>
            </a:xfrm>
            <a:prstGeom prst="rect">
              <a:avLst/>
            </a:prstGeom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E4ED77F5-1240-0602-D7C3-CBFC9FDF7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91227" y="281262"/>
              <a:ext cx="171429" cy="907937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8DA96967-F7DE-D860-E317-F98254989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7788" y="1081692"/>
              <a:ext cx="3891820" cy="369333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74539C65-BDEF-8EFC-2FD2-8ED0BD095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4416" y="477858"/>
              <a:ext cx="468812" cy="468812"/>
            </a:xfrm>
            <a:prstGeom prst="rect">
              <a:avLst/>
            </a:prstGeom>
          </p:spPr>
        </p:pic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08F08E2F-0EAB-87E0-C469-BDCB3CB8E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7327" flipV="1">
              <a:off x="1050804" y="882207"/>
              <a:ext cx="850188" cy="561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7600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637</Words>
  <Application>Microsoft Office PowerPoint</Application>
  <PresentationFormat>Grand écran</PresentationFormat>
  <Paragraphs>95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Baloo 2</vt:lpstr>
      <vt:lpstr>Baloo 2 ExtraBold</vt:lpstr>
      <vt:lpstr>Baloo 2 Medium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Chaix</dc:creator>
  <cp:lastModifiedBy>Guillaume Chaix</cp:lastModifiedBy>
  <cp:revision>13</cp:revision>
  <cp:lastPrinted>2026-06-14T21:30:00Z</cp:lastPrinted>
  <dcterms:created xsi:type="dcterms:W3CDTF">2026-06-14T10:34:30Z</dcterms:created>
  <dcterms:modified xsi:type="dcterms:W3CDTF">2026-06-14T21:30:17Z</dcterms:modified>
</cp:coreProperties>
</file>